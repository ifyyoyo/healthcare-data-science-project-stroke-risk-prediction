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63" r:id="rId3"/>
    <p:sldId id="257" r:id="rId4"/>
    <p:sldId id="264" r:id="rId5"/>
    <p:sldId id="267" r:id="rId6"/>
    <p:sldId id="270" r:id="rId7"/>
    <p:sldId id="272" r:id="rId8"/>
    <p:sldId id="259" r:id="rId9"/>
    <p:sldId id="260" r:id="rId10"/>
    <p:sldId id="262"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15436ED-E108-4908-A979-B082A3D4CDA6}" v="484" dt="2026-03-13T12:45:55.125"/>
    <p1510:client id="{D3500769-B934-465F-9D46-7D93B3B53438}" v="467" dt="2026-03-11T17:50:02.736"/>
    <p1510:client id="{D8458586-2ED9-4E60-9476-A3C3FB5A9E4C}" v="545" dt="2026-03-13T11:09:10.34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4D08574-B5A3-481A-9F87-302BFA581FB6}" type="doc">
      <dgm:prSet loTypeId="urn:microsoft.com/office/officeart/2005/8/layout/vList2" loCatId="list" qsTypeId="urn:microsoft.com/office/officeart/2005/8/quickstyle/simple4" qsCatId="simple" csTypeId="urn:microsoft.com/office/officeart/2005/8/colors/colorful5" csCatId="colorful"/>
      <dgm:spPr/>
      <dgm:t>
        <a:bodyPr/>
        <a:lstStyle/>
        <a:p>
          <a:endParaRPr lang="en-US"/>
        </a:p>
      </dgm:t>
    </dgm:pt>
    <dgm:pt modelId="{6BE0C400-A497-459A-9926-877717EE61E8}">
      <dgm:prSet/>
      <dgm:spPr/>
      <dgm:t>
        <a:bodyPr/>
        <a:lstStyle/>
        <a:p>
          <a:r>
            <a:rPr lang="en-US"/>
            <a:t>🩺 Early Risk Screening</a:t>
          </a:r>
          <a:br>
            <a:rPr lang="en-US"/>
          </a:br>
          <a:r>
            <a:rPr lang="en-US"/>
            <a:t> Identify high-risk patients through regular health checkups and predictive models.</a:t>
          </a:r>
        </a:p>
      </dgm:t>
    </dgm:pt>
    <dgm:pt modelId="{55DCB564-BF86-4851-AA13-8B71E3A0EE05}" type="parTrans" cxnId="{1857DF22-625E-4D16-9A37-E7C3D7E12137}">
      <dgm:prSet/>
      <dgm:spPr/>
      <dgm:t>
        <a:bodyPr/>
        <a:lstStyle/>
        <a:p>
          <a:endParaRPr lang="en-US"/>
        </a:p>
      </dgm:t>
    </dgm:pt>
    <dgm:pt modelId="{A2CB9A80-CB5B-4F69-8909-1E9F2EC333D1}" type="sibTrans" cxnId="{1857DF22-625E-4D16-9A37-E7C3D7E12137}">
      <dgm:prSet/>
      <dgm:spPr/>
      <dgm:t>
        <a:bodyPr/>
        <a:lstStyle/>
        <a:p>
          <a:endParaRPr lang="en-US"/>
        </a:p>
      </dgm:t>
    </dgm:pt>
    <dgm:pt modelId="{D2CD4ABA-03B1-4840-ACF1-F12E2563ACE1}">
      <dgm:prSet/>
      <dgm:spPr/>
      <dgm:t>
        <a:bodyPr/>
        <a:lstStyle/>
        <a:p>
          <a:r>
            <a:rPr lang="en-US"/>
            <a:t>💓 Blood Pressure Control</a:t>
          </a:r>
          <a:br>
            <a:rPr lang="en-US"/>
          </a:br>
          <a:r>
            <a:rPr lang="en-US"/>
            <a:t> Monitor and manage hypertension through medication and lifestyle adjustments.</a:t>
          </a:r>
        </a:p>
      </dgm:t>
    </dgm:pt>
    <dgm:pt modelId="{5D674500-2D04-40B3-BEC5-77846B77491D}" type="parTrans" cxnId="{3D720C65-A257-4027-9A4E-B3D413FBAF9F}">
      <dgm:prSet/>
      <dgm:spPr/>
      <dgm:t>
        <a:bodyPr/>
        <a:lstStyle/>
        <a:p>
          <a:endParaRPr lang="en-US"/>
        </a:p>
      </dgm:t>
    </dgm:pt>
    <dgm:pt modelId="{A0460EEF-7DF8-4BBE-835E-0779D97A4B66}" type="sibTrans" cxnId="{3D720C65-A257-4027-9A4E-B3D413FBAF9F}">
      <dgm:prSet/>
      <dgm:spPr/>
      <dgm:t>
        <a:bodyPr/>
        <a:lstStyle/>
        <a:p>
          <a:endParaRPr lang="en-US"/>
        </a:p>
      </dgm:t>
    </dgm:pt>
    <dgm:pt modelId="{3CB92E39-F2F0-4EDA-9B73-BB28DE66931D}">
      <dgm:prSet/>
      <dgm:spPr/>
      <dgm:t>
        <a:bodyPr/>
        <a:lstStyle/>
        <a:p>
          <a:r>
            <a:rPr lang="en-US"/>
            <a:t>🍎 Diabetes &amp; Glucose Management</a:t>
          </a:r>
          <a:br>
            <a:rPr lang="en-US"/>
          </a:br>
          <a:r>
            <a:rPr lang="en-US"/>
            <a:t> Encourage regular blood sugar monitoring and healthy diet plans.</a:t>
          </a:r>
        </a:p>
      </dgm:t>
    </dgm:pt>
    <dgm:pt modelId="{C14EB4BA-95B2-4A15-BF35-45DE3D041863}" type="parTrans" cxnId="{9BFF08EB-EE55-4220-BC52-C6909E0929D5}">
      <dgm:prSet/>
      <dgm:spPr/>
      <dgm:t>
        <a:bodyPr/>
        <a:lstStyle/>
        <a:p>
          <a:endParaRPr lang="en-US"/>
        </a:p>
      </dgm:t>
    </dgm:pt>
    <dgm:pt modelId="{8DF0E731-CEAE-42A1-8A61-C76DD2BAAB1A}" type="sibTrans" cxnId="{9BFF08EB-EE55-4220-BC52-C6909E0929D5}">
      <dgm:prSet/>
      <dgm:spPr/>
      <dgm:t>
        <a:bodyPr/>
        <a:lstStyle/>
        <a:p>
          <a:endParaRPr lang="en-US"/>
        </a:p>
      </dgm:t>
    </dgm:pt>
    <dgm:pt modelId="{FD9C95C7-F5C1-44E6-9245-D58F6FABB38D}">
      <dgm:prSet/>
      <dgm:spPr/>
      <dgm:t>
        <a:bodyPr/>
        <a:lstStyle/>
        <a:p>
          <a:r>
            <a:rPr lang="en-US"/>
            <a:t>🚭 Lifestyle Improvement Programs</a:t>
          </a:r>
          <a:br>
            <a:rPr lang="en-US"/>
          </a:br>
          <a:r>
            <a:rPr lang="en-US"/>
            <a:t> Promote smoking cessation, exercise, healthy diet, and weight management.</a:t>
          </a:r>
        </a:p>
      </dgm:t>
    </dgm:pt>
    <dgm:pt modelId="{A905C22C-A2FB-48CB-A439-EA9CCC6B79B8}" type="parTrans" cxnId="{60E85F50-40AA-45BB-A046-3954E900CB3D}">
      <dgm:prSet/>
      <dgm:spPr/>
      <dgm:t>
        <a:bodyPr/>
        <a:lstStyle/>
        <a:p>
          <a:endParaRPr lang="en-US"/>
        </a:p>
      </dgm:t>
    </dgm:pt>
    <dgm:pt modelId="{2E208ECF-D051-450F-A08A-8BFC56AC5010}" type="sibTrans" cxnId="{60E85F50-40AA-45BB-A046-3954E900CB3D}">
      <dgm:prSet/>
      <dgm:spPr/>
      <dgm:t>
        <a:bodyPr/>
        <a:lstStyle/>
        <a:p>
          <a:endParaRPr lang="en-US"/>
        </a:p>
      </dgm:t>
    </dgm:pt>
    <dgm:pt modelId="{479C9C30-8A51-44AA-BF54-0F9ADAB7AF20}">
      <dgm:prSet/>
      <dgm:spPr/>
      <dgm:t>
        <a:bodyPr/>
        <a:lstStyle/>
        <a:p>
          <a:r>
            <a:rPr lang="en-US"/>
            <a:t>👨‍⚕️ Personalized Preventive Care</a:t>
          </a:r>
          <a:br>
            <a:rPr lang="en-US"/>
          </a:br>
          <a:r>
            <a:rPr lang="en-US"/>
            <a:t> Provide targeted monitoring and treatment plans for patients identified as high risk.</a:t>
          </a:r>
        </a:p>
      </dgm:t>
    </dgm:pt>
    <dgm:pt modelId="{E4E27E31-2AA3-4350-8B76-6A234DAED2A9}" type="parTrans" cxnId="{BADD4D11-E7A2-4BE0-9A89-AFAA79DFCE34}">
      <dgm:prSet/>
      <dgm:spPr/>
      <dgm:t>
        <a:bodyPr/>
        <a:lstStyle/>
        <a:p>
          <a:endParaRPr lang="en-US"/>
        </a:p>
      </dgm:t>
    </dgm:pt>
    <dgm:pt modelId="{70755322-2A94-4D72-9977-9C7210ABEDA5}" type="sibTrans" cxnId="{BADD4D11-E7A2-4BE0-9A89-AFAA79DFCE34}">
      <dgm:prSet/>
      <dgm:spPr/>
      <dgm:t>
        <a:bodyPr/>
        <a:lstStyle/>
        <a:p>
          <a:endParaRPr lang="en-US"/>
        </a:p>
      </dgm:t>
    </dgm:pt>
    <dgm:pt modelId="{40A6E9B1-448E-4710-861A-69AA079D7052}" type="pres">
      <dgm:prSet presAssocID="{24D08574-B5A3-481A-9F87-302BFA581FB6}" presName="linear" presStyleCnt="0">
        <dgm:presLayoutVars>
          <dgm:animLvl val="lvl"/>
          <dgm:resizeHandles val="exact"/>
        </dgm:presLayoutVars>
      </dgm:prSet>
      <dgm:spPr/>
    </dgm:pt>
    <dgm:pt modelId="{A0A3B981-4ECA-4223-B479-5E9A3D5F7DA3}" type="pres">
      <dgm:prSet presAssocID="{6BE0C400-A497-459A-9926-877717EE61E8}" presName="parentText" presStyleLbl="node1" presStyleIdx="0" presStyleCnt="5">
        <dgm:presLayoutVars>
          <dgm:chMax val="0"/>
          <dgm:bulletEnabled val="1"/>
        </dgm:presLayoutVars>
      </dgm:prSet>
      <dgm:spPr/>
    </dgm:pt>
    <dgm:pt modelId="{80C24340-97F0-49F3-B550-F9D54AB5EB63}" type="pres">
      <dgm:prSet presAssocID="{A2CB9A80-CB5B-4F69-8909-1E9F2EC333D1}" presName="spacer" presStyleCnt="0"/>
      <dgm:spPr/>
    </dgm:pt>
    <dgm:pt modelId="{D089CBB0-B186-4407-9727-2A507050F3AB}" type="pres">
      <dgm:prSet presAssocID="{D2CD4ABA-03B1-4840-ACF1-F12E2563ACE1}" presName="parentText" presStyleLbl="node1" presStyleIdx="1" presStyleCnt="5">
        <dgm:presLayoutVars>
          <dgm:chMax val="0"/>
          <dgm:bulletEnabled val="1"/>
        </dgm:presLayoutVars>
      </dgm:prSet>
      <dgm:spPr/>
    </dgm:pt>
    <dgm:pt modelId="{DD93F424-3052-4F09-85FC-2EE196211B22}" type="pres">
      <dgm:prSet presAssocID="{A0460EEF-7DF8-4BBE-835E-0779D97A4B66}" presName="spacer" presStyleCnt="0"/>
      <dgm:spPr/>
    </dgm:pt>
    <dgm:pt modelId="{16052C4C-4A29-434B-A1A7-75295DCC8138}" type="pres">
      <dgm:prSet presAssocID="{3CB92E39-F2F0-4EDA-9B73-BB28DE66931D}" presName="parentText" presStyleLbl="node1" presStyleIdx="2" presStyleCnt="5">
        <dgm:presLayoutVars>
          <dgm:chMax val="0"/>
          <dgm:bulletEnabled val="1"/>
        </dgm:presLayoutVars>
      </dgm:prSet>
      <dgm:spPr/>
    </dgm:pt>
    <dgm:pt modelId="{C8AE5FB6-3B65-4007-B88A-BEBAB209CC49}" type="pres">
      <dgm:prSet presAssocID="{8DF0E731-CEAE-42A1-8A61-C76DD2BAAB1A}" presName="spacer" presStyleCnt="0"/>
      <dgm:spPr/>
    </dgm:pt>
    <dgm:pt modelId="{7DE4AF6F-A87E-4805-8790-01450E9A8D99}" type="pres">
      <dgm:prSet presAssocID="{FD9C95C7-F5C1-44E6-9245-D58F6FABB38D}" presName="parentText" presStyleLbl="node1" presStyleIdx="3" presStyleCnt="5">
        <dgm:presLayoutVars>
          <dgm:chMax val="0"/>
          <dgm:bulletEnabled val="1"/>
        </dgm:presLayoutVars>
      </dgm:prSet>
      <dgm:spPr/>
    </dgm:pt>
    <dgm:pt modelId="{8CC58A7B-2E79-43EA-9631-49FCB43BF463}" type="pres">
      <dgm:prSet presAssocID="{2E208ECF-D051-450F-A08A-8BFC56AC5010}" presName="spacer" presStyleCnt="0"/>
      <dgm:spPr/>
    </dgm:pt>
    <dgm:pt modelId="{0A88C6A6-FF7A-4E8D-841F-C1CBCAD0ED72}" type="pres">
      <dgm:prSet presAssocID="{479C9C30-8A51-44AA-BF54-0F9ADAB7AF20}" presName="parentText" presStyleLbl="node1" presStyleIdx="4" presStyleCnt="5">
        <dgm:presLayoutVars>
          <dgm:chMax val="0"/>
          <dgm:bulletEnabled val="1"/>
        </dgm:presLayoutVars>
      </dgm:prSet>
      <dgm:spPr/>
    </dgm:pt>
  </dgm:ptLst>
  <dgm:cxnLst>
    <dgm:cxn modelId="{BADD4D11-E7A2-4BE0-9A89-AFAA79DFCE34}" srcId="{24D08574-B5A3-481A-9F87-302BFA581FB6}" destId="{479C9C30-8A51-44AA-BF54-0F9ADAB7AF20}" srcOrd="4" destOrd="0" parTransId="{E4E27E31-2AA3-4350-8B76-6A234DAED2A9}" sibTransId="{70755322-2A94-4D72-9977-9C7210ABEDA5}"/>
    <dgm:cxn modelId="{1857DF22-625E-4D16-9A37-E7C3D7E12137}" srcId="{24D08574-B5A3-481A-9F87-302BFA581FB6}" destId="{6BE0C400-A497-459A-9926-877717EE61E8}" srcOrd="0" destOrd="0" parTransId="{55DCB564-BF86-4851-AA13-8B71E3A0EE05}" sibTransId="{A2CB9A80-CB5B-4F69-8909-1E9F2EC333D1}"/>
    <dgm:cxn modelId="{49101C2A-ED7F-4E27-BA9A-4C319A6DA4F5}" type="presOf" srcId="{479C9C30-8A51-44AA-BF54-0F9ADAB7AF20}" destId="{0A88C6A6-FF7A-4E8D-841F-C1CBCAD0ED72}" srcOrd="0" destOrd="0" presId="urn:microsoft.com/office/officeart/2005/8/layout/vList2"/>
    <dgm:cxn modelId="{EAB0562F-F966-4731-98D2-3CE48EBE0FD6}" type="presOf" srcId="{24D08574-B5A3-481A-9F87-302BFA581FB6}" destId="{40A6E9B1-448E-4710-861A-69AA079D7052}" srcOrd="0" destOrd="0" presId="urn:microsoft.com/office/officeart/2005/8/layout/vList2"/>
    <dgm:cxn modelId="{DA2E7C2F-F69F-4C71-8CB5-E64CA25F1DEE}" type="presOf" srcId="{FD9C95C7-F5C1-44E6-9245-D58F6FABB38D}" destId="{7DE4AF6F-A87E-4805-8790-01450E9A8D99}" srcOrd="0" destOrd="0" presId="urn:microsoft.com/office/officeart/2005/8/layout/vList2"/>
    <dgm:cxn modelId="{3D720C65-A257-4027-9A4E-B3D413FBAF9F}" srcId="{24D08574-B5A3-481A-9F87-302BFA581FB6}" destId="{D2CD4ABA-03B1-4840-ACF1-F12E2563ACE1}" srcOrd="1" destOrd="0" parTransId="{5D674500-2D04-40B3-BEC5-77846B77491D}" sibTransId="{A0460EEF-7DF8-4BBE-835E-0779D97A4B66}"/>
    <dgm:cxn modelId="{60E85F50-40AA-45BB-A046-3954E900CB3D}" srcId="{24D08574-B5A3-481A-9F87-302BFA581FB6}" destId="{FD9C95C7-F5C1-44E6-9245-D58F6FABB38D}" srcOrd="3" destOrd="0" parTransId="{A905C22C-A2FB-48CB-A439-EA9CCC6B79B8}" sibTransId="{2E208ECF-D051-450F-A08A-8BFC56AC5010}"/>
    <dgm:cxn modelId="{E7962F92-93CB-4F0F-8936-EE7AD6EB7337}" type="presOf" srcId="{3CB92E39-F2F0-4EDA-9B73-BB28DE66931D}" destId="{16052C4C-4A29-434B-A1A7-75295DCC8138}" srcOrd="0" destOrd="0" presId="urn:microsoft.com/office/officeart/2005/8/layout/vList2"/>
    <dgm:cxn modelId="{012B28AF-BF61-4F35-9106-F3C51B955349}" type="presOf" srcId="{6BE0C400-A497-459A-9926-877717EE61E8}" destId="{A0A3B981-4ECA-4223-B479-5E9A3D5F7DA3}" srcOrd="0" destOrd="0" presId="urn:microsoft.com/office/officeart/2005/8/layout/vList2"/>
    <dgm:cxn modelId="{EE2C3EB8-4518-48FD-A455-0F1287A32588}" type="presOf" srcId="{D2CD4ABA-03B1-4840-ACF1-F12E2563ACE1}" destId="{D089CBB0-B186-4407-9727-2A507050F3AB}" srcOrd="0" destOrd="0" presId="urn:microsoft.com/office/officeart/2005/8/layout/vList2"/>
    <dgm:cxn modelId="{9BFF08EB-EE55-4220-BC52-C6909E0929D5}" srcId="{24D08574-B5A3-481A-9F87-302BFA581FB6}" destId="{3CB92E39-F2F0-4EDA-9B73-BB28DE66931D}" srcOrd="2" destOrd="0" parTransId="{C14EB4BA-95B2-4A15-BF35-45DE3D041863}" sibTransId="{8DF0E731-CEAE-42A1-8A61-C76DD2BAAB1A}"/>
    <dgm:cxn modelId="{E5C5E678-C4D1-4BD7-8B50-2F755B7EC359}" type="presParOf" srcId="{40A6E9B1-448E-4710-861A-69AA079D7052}" destId="{A0A3B981-4ECA-4223-B479-5E9A3D5F7DA3}" srcOrd="0" destOrd="0" presId="urn:microsoft.com/office/officeart/2005/8/layout/vList2"/>
    <dgm:cxn modelId="{64A7249A-C797-434E-B9B8-D8D108B603FA}" type="presParOf" srcId="{40A6E9B1-448E-4710-861A-69AA079D7052}" destId="{80C24340-97F0-49F3-B550-F9D54AB5EB63}" srcOrd="1" destOrd="0" presId="urn:microsoft.com/office/officeart/2005/8/layout/vList2"/>
    <dgm:cxn modelId="{DD38EBAA-1D49-4CCF-8CA5-4B9CC819055B}" type="presParOf" srcId="{40A6E9B1-448E-4710-861A-69AA079D7052}" destId="{D089CBB0-B186-4407-9727-2A507050F3AB}" srcOrd="2" destOrd="0" presId="urn:microsoft.com/office/officeart/2005/8/layout/vList2"/>
    <dgm:cxn modelId="{72E2AEFB-4443-4693-B6CD-4C654B72A876}" type="presParOf" srcId="{40A6E9B1-448E-4710-861A-69AA079D7052}" destId="{DD93F424-3052-4F09-85FC-2EE196211B22}" srcOrd="3" destOrd="0" presId="urn:microsoft.com/office/officeart/2005/8/layout/vList2"/>
    <dgm:cxn modelId="{BAA60FF9-512C-4A05-8D61-9EBB1C8EC0F1}" type="presParOf" srcId="{40A6E9B1-448E-4710-861A-69AA079D7052}" destId="{16052C4C-4A29-434B-A1A7-75295DCC8138}" srcOrd="4" destOrd="0" presId="urn:microsoft.com/office/officeart/2005/8/layout/vList2"/>
    <dgm:cxn modelId="{91998C82-126C-45B8-893A-F9F628B013AF}" type="presParOf" srcId="{40A6E9B1-448E-4710-861A-69AA079D7052}" destId="{C8AE5FB6-3B65-4007-B88A-BEBAB209CC49}" srcOrd="5" destOrd="0" presId="urn:microsoft.com/office/officeart/2005/8/layout/vList2"/>
    <dgm:cxn modelId="{A8AF91C9-D102-4244-997F-51CE320A0143}" type="presParOf" srcId="{40A6E9B1-448E-4710-861A-69AA079D7052}" destId="{7DE4AF6F-A87E-4805-8790-01450E9A8D99}" srcOrd="6" destOrd="0" presId="urn:microsoft.com/office/officeart/2005/8/layout/vList2"/>
    <dgm:cxn modelId="{7A9C11F4-9B9F-481B-B626-AF971250BE53}" type="presParOf" srcId="{40A6E9B1-448E-4710-861A-69AA079D7052}" destId="{8CC58A7B-2E79-43EA-9631-49FCB43BF463}" srcOrd="7" destOrd="0" presId="urn:microsoft.com/office/officeart/2005/8/layout/vList2"/>
    <dgm:cxn modelId="{D14ACCC6-77CC-47F1-8C5D-20785C3BF366}" type="presParOf" srcId="{40A6E9B1-448E-4710-861A-69AA079D7052}" destId="{0A88C6A6-FF7A-4E8D-841F-C1CBCAD0ED72}"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DF1D864-AE2D-4D30-9FA6-CE63F2D07230}" type="doc">
      <dgm:prSet loTypeId="urn:microsoft.com/office/officeart/2016/7/layout/RepeatingBendingProcessNew" loCatId="process" qsTypeId="urn:microsoft.com/office/officeart/2005/8/quickstyle/simple1" qsCatId="simple" csTypeId="urn:microsoft.com/office/officeart/2005/8/colors/colorful1" csCatId="colorful" phldr="1"/>
      <dgm:spPr/>
      <dgm:t>
        <a:bodyPr/>
        <a:lstStyle/>
        <a:p>
          <a:endParaRPr lang="en-US"/>
        </a:p>
      </dgm:t>
    </dgm:pt>
    <dgm:pt modelId="{28E9EE25-D716-4FD1-882D-B87A296EA893}">
      <dgm:prSet/>
      <dgm:spPr/>
      <dgm:t>
        <a:bodyPr/>
        <a:lstStyle/>
        <a:p>
          <a:pPr>
            <a:defRPr cap="all"/>
          </a:pPr>
          <a:r>
            <a:rPr lang="en-US"/>
            <a:t>🔒 Patient Data Privacy</a:t>
          </a:r>
          <a:br>
            <a:rPr lang="en-US"/>
          </a:br>
          <a:r>
            <a:rPr lang="en-US"/>
            <a:t> Ensure secure storage and responsible handling of sensitive health data.</a:t>
          </a:r>
        </a:p>
      </dgm:t>
    </dgm:pt>
    <dgm:pt modelId="{4F700A12-3BD6-44A4-B493-02C556F198E8}" type="parTrans" cxnId="{C65BD7DD-5C9A-4659-AEAB-DE5660FD3CD9}">
      <dgm:prSet/>
      <dgm:spPr/>
      <dgm:t>
        <a:bodyPr/>
        <a:lstStyle/>
        <a:p>
          <a:endParaRPr lang="en-US"/>
        </a:p>
      </dgm:t>
    </dgm:pt>
    <dgm:pt modelId="{8C581D78-D477-4D31-A5AF-B7BC2DB79A4E}" type="sibTrans" cxnId="{C65BD7DD-5C9A-4659-AEAB-DE5660FD3CD9}">
      <dgm:prSet/>
      <dgm:spPr/>
      <dgm:t>
        <a:bodyPr/>
        <a:lstStyle/>
        <a:p>
          <a:endParaRPr lang="en-US"/>
        </a:p>
      </dgm:t>
    </dgm:pt>
    <dgm:pt modelId="{8BBF6A90-7EB3-4A61-8266-4C27D874DEF1}">
      <dgm:prSet/>
      <dgm:spPr/>
      <dgm:t>
        <a:bodyPr/>
        <a:lstStyle/>
        <a:p>
          <a:pPr>
            <a:defRPr cap="all"/>
          </a:pPr>
          <a:r>
            <a:rPr lang="en-US"/>
            <a:t>⚖️ Algorithmic Fairness</a:t>
          </a:r>
          <a:br>
            <a:rPr lang="en-US"/>
          </a:br>
          <a:r>
            <a:rPr lang="en-US"/>
            <a:t> Use diverse and representative datasets to prevent biased predictions.</a:t>
          </a:r>
        </a:p>
      </dgm:t>
    </dgm:pt>
    <dgm:pt modelId="{8E46857C-1F8D-42F4-BC1D-85791BFCF8B4}" type="parTrans" cxnId="{F9F797C3-FA8F-440E-AFF0-D36F6119DE02}">
      <dgm:prSet/>
      <dgm:spPr/>
      <dgm:t>
        <a:bodyPr/>
        <a:lstStyle/>
        <a:p>
          <a:endParaRPr lang="en-US"/>
        </a:p>
      </dgm:t>
    </dgm:pt>
    <dgm:pt modelId="{4B704E36-2C65-49F3-A28E-157E8D7EF88F}" type="sibTrans" cxnId="{F9F797C3-FA8F-440E-AFF0-D36F6119DE02}">
      <dgm:prSet/>
      <dgm:spPr/>
      <dgm:t>
        <a:bodyPr/>
        <a:lstStyle/>
        <a:p>
          <a:endParaRPr lang="en-US"/>
        </a:p>
      </dgm:t>
    </dgm:pt>
    <dgm:pt modelId="{B22DB9F2-6EF5-448B-AEA1-E0C48DDFEF5A}">
      <dgm:prSet/>
      <dgm:spPr/>
      <dgm:t>
        <a:bodyPr/>
        <a:lstStyle/>
        <a:p>
          <a:pPr>
            <a:defRPr cap="all"/>
          </a:pPr>
          <a:r>
            <a:rPr lang="en-US"/>
            <a:t>🔍 Transparency &amp; Explainability</a:t>
          </a:r>
          <a:br>
            <a:rPr lang="en-US"/>
          </a:br>
          <a:r>
            <a:rPr lang="en-US"/>
            <a:t> Healthcare professionals should understand how the model generates predictions.</a:t>
          </a:r>
        </a:p>
      </dgm:t>
    </dgm:pt>
    <dgm:pt modelId="{6F18E09F-C4BB-484C-8D0E-63AAF0C496AE}" type="parTrans" cxnId="{4BBC5C47-A9B5-4AF1-958F-489E5FC3609D}">
      <dgm:prSet/>
      <dgm:spPr/>
      <dgm:t>
        <a:bodyPr/>
        <a:lstStyle/>
        <a:p>
          <a:endParaRPr lang="en-US"/>
        </a:p>
      </dgm:t>
    </dgm:pt>
    <dgm:pt modelId="{CDA446E0-DFE9-4001-A64F-245025CC7F4B}" type="sibTrans" cxnId="{4BBC5C47-A9B5-4AF1-958F-489E5FC3609D}">
      <dgm:prSet/>
      <dgm:spPr/>
      <dgm:t>
        <a:bodyPr/>
        <a:lstStyle/>
        <a:p>
          <a:endParaRPr lang="en-US"/>
        </a:p>
      </dgm:t>
    </dgm:pt>
    <dgm:pt modelId="{3FA5DF52-BAD8-4539-84DF-0FC7FA6E836C}">
      <dgm:prSet/>
      <dgm:spPr/>
      <dgm:t>
        <a:bodyPr/>
        <a:lstStyle/>
        <a:p>
          <a:pPr>
            <a:defRPr cap="all"/>
          </a:pPr>
          <a:r>
            <a:rPr lang="en-US"/>
            <a:t>👩‍⚕️ Human Oversight</a:t>
          </a:r>
          <a:br>
            <a:rPr lang="en-US"/>
          </a:br>
          <a:r>
            <a:rPr lang="en-US"/>
            <a:t> AI systems should assist doctors, not replace clinical judgment.</a:t>
          </a:r>
        </a:p>
      </dgm:t>
    </dgm:pt>
    <dgm:pt modelId="{A679DE48-3728-4EC8-AD04-6B3F3DCECEF5}" type="parTrans" cxnId="{A335988C-A922-43E9-9436-E1A21613D3FF}">
      <dgm:prSet/>
      <dgm:spPr/>
      <dgm:t>
        <a:bodyPr/>
        <a:lstStyle/>
        <a:p>
          <a:endParaRPr lang="en-US"/>
        </a:p>
      </dgm:t>
    </dgm:pt>
    <dgm:pt modelId="{DE2F163C-39B0-4D4D-A0FE-CCC1DF35D3CA}" type="sibTrans" cxnId="{A335988C-A922-43E9-9436-E1A21613D3FF}">
      <dgm:prSet/>
      <dgm:spPr/>
      <dgm:t>
        <a:bodyPr/>
        <a:lstStyle/>
        <a:p>
          <a:endParaRPr lang="en-US"/>
        </a:p>
      </dgm:t>
    </dgm:pt>
    <dgm:pt modelId="{DB8C0FCD-75CA-4089-A83C-64AB47929124}">
      <dgm:prSet/>
      <dgm:spPr/>
      <dgm:t>
        <a:bodyPr/>
        <a:lstStyle/>
        <a:p>
          <a:pPr>
            <a:defRPr cap="all"/>
          </a:pPr>
          <a:r>
            <a:rPr lang="en-US"/>
            <a:t>⚠️ Managing Prediction Errors</a:t>
          </a:r>
          <a:br>
            <a:rPr lang="en-US"/>
          </a:br>
          <a:r>
            <a:rPr lang="en-US"/>
            <a:t> Monitor false positives and false negatives to avoid harmful medical decisions.</a:t>
          </a:r>
        </a:p>
      </dgm:t>
    </dgm:pt>
    <dgm:pt modelId="{6B51FCDE-2CE8-4533-9727-D604FD65F451}" type="parTrans" cxnId="{A0ECF00D-B2B2-49B9-BF3F-D8B9854D5E29}">
      <dgm:prSet/>
      <dgm:spPr/>
      <dgm:t>
        <a:bodyPr/>
        <a:lstStyle/>
        <a:p>
          <a:endParaRPr lang="en-US"/>
        </a:p>
      </dgm:t>
    </dgm:pt>
    <dgm:pt modelId="{A552703B-008F-4E46-9A24-0E028EFFACFA}" type="sibTrans" cxnId="{A0ECF00D-B2B2-49B9-BF3F-D8B9854D5E29}">
      <dgm:prSet/>
      <dgm:spPr/>
      <dgm:t>
        <a:bodyPr/>
        <a:lstStyle/>
        <a:p>
          <a:endParaRPr lang="en-US"/>
        </a:p>
      </dgm:t>
    </dgm:pt>
    <dgm:pt modelId="{FFD691F2-B915-4D47-A056-790A9929C3AF}" type="pres">
      <dgm:prSet presAssocID="{9DF1D864-AE2D-4D30-9FA6-CE63F2D07230}" presName="Name0" presStyleCnt="0">
        <dgm:presLayoutVars>
          <dgm:dir/>
          <dgm:resizeHandles val="exact"/>
        </dgm:presLayoutVars>
      </dgm:prSet>
      <dgm:spPr/>
    </dgm:pt>
    <dgm:pt modelId="{0ADCDF92-23D0-4F7D-B074-F5C8C49375D9}" type="pres">
      <dgm:prSet presAssocID="{28E9EE25-D716-4FD1-882D-B87A296EA893}" presName="node" presStyleLbl="node1" presStyleIdx="0" presStyleCnt="5">
        <dgm:presLayoutVars>
          <dgm:bulletEnabled val="1"/>
        </dgm:presLayoutVars>
      </dgm:prSet>
      <dgm:spPr/>
    </dgm:pt>
    <dgm:pt modelId="{0C053E32-4F22-409C-A148-064FAAC36ACE}" type="pres">
      <dgm:prSet presAssocID="{8C581D78-D477-4D31-A5AF-B7BC2DB79A4E}" presName="sibTrans" presStyleLbl="sibTrans1D1" presStyleIdx="0" presStyleCnt="4"/>
      <dgm:spPr/>
    </dgm:pt>
    <dgm:pt modelId="{F46B9129-08F6-4A9F-84AE-13BDDAD5493F}" type="pres">
      <dgm:prSet presAssocID="{8C581D78-D477-4D31-A5AF-B7BC2DB79A4E}" presName="connectorText" presStyleLbl="sibTrans1D1" presStyleIdx="0" presStyleCnt="4"/>
      <dgm:spPr/>
    </dgm:pt>
    <dgm:pt modelId="{8C617D81-34C9-4374-8506-D0DDBD798EB7}" type="pres">
      <dgm:prSet presAssocID="{8BBF6A90-7EB3-4A61-8266-4C27D874DEF1}" presName="node" presStyleLbl="node1" presStyleIdx="1" presStyleCnt="5">
        <dgm:presLayoutVars>
          <dgm:bulletEnabled val="1"/>
        </dgm:presLayoutVars>
      </dgm:prSet>
      <dgm:spPr/>
    </dgm:pt>
    <dgm:pt modelId="{A10E1500-31D5-47C4-A0A3-0C037A8C4708}" type="pres">
      <dgm:prSet presAssocID="{4B704E36-2C65-49F3-A28E-157E8D7EF88F}" presName="sibTrans" presStyleLbl="sibTrans1D1" presStyleIdx="1" presStyleCnt="4"/>
      <dgm:spPr/>
    </dgm:pt>
    <dgm:pt modelId="{C426F028-98FA-4081-BCB4-9E36DC6B85DD}" type="pres">
      <dgm:prSet presAssocID="{4B704E36-2C65-49F3-A28E-157E8D7EF88F}" presName="connectorText" presStyleLbl="sibTrans1D1" presStyleIdx="1" presStyleCnt="4"/>
      <dgm:spPr/>
    </dgm:pt>
    <dgm:pt modelId="{B8CA73AA-12FE-43AD-AE44-177E627AAC02}" type="pres">
      <dgm:prSet presAssocID="{B22DB9F2-6EF5-448B-AEA1-E0C48DDFEF5A}" presName="node" presStyleLbl="node1" presStyleIdx="2" presStyleCnt="5">
        <dgm:presLayoutVars>
          <dgm:bulletEnabled val="1"/>
        </dgm:presLayoutVars>
      </dgm:prSet>
      <dgm:spPr/>
    </dgm:pt>
    <dgm:pt modelId="{1955D9AB-E0FC-47A1-99FC-6048FEDFABFC}" type="pres">
      <dgm:prSet presAssocID="{CDA446E0-DFE9-4001-A64F-245025CC7F4B}" presName="sibTrans" presStyleLbl="sibTrans1D1" presStyleIdx="2" presStyleCnt="4"/>
      <dgm:spPr/>
    </dgm:pt>
    <dgm:pt modelId="{1E2B7CD2-7595-42C0-8313-C2DE50116BA1}" type="pres">
      <dgm:prSet presAssocID="{CDA446E0-DFE9-4001-A64F-245025CC7F4B}" presName="connectorText" presStyleLbl="sibTrans1D1" presStyleIdx="2" presStyleCnt="4"/>
      <dgm:spPr/>
    </dgm:pt>
    <dgm:pt modelId="{A5870721-9187-471E-A0A3-946FFE2C6ECE}" type="pres">
      <dgm:prSet presAssocID="{3FA5DF52-BAD8-4539-84DF-0FC7FA6E836C}" presName="node" presStyleLbl="node1" presStyleIdx="3" presStyleCnt="5">
        <dgm:presLayoutVars>
          <dgm:bulletEnabled val="1"/>
        </dgm:presLayoutVars>
      </dgm:prSet>
      <dgm:spPr/>
    </dgm:pt>
    <dgm:pt modelId="{80EA9B6F-AB1C-4CB6-B374-09286C1DAFAD}" type="pres">
      <dgm:prSet presAssocID="{DE2F163C-39B0-4D4D-A0FE-CCC1DF35D3CA}" presName="sibTrans" presStyleLbl="sibTrans1D1" presStyleIdx="3" presStyleCnt="4"/>
      <dgm:spPr/>
    </dgm:pt>
    <dgm:pt modelId="{6282DB7E-9A4A-4344-BBBE-602EE99107E3}" type="pres">
      <dgm:prSet presAssocID="{DE2F163C-39B0-4D4D-A0FE-CCC1DF35D3CA}" presName="connectorText" presStyleLbl="sibTrans1D1" presStyleIdx="3" presStyleCnt="4"/>
      <dgm:spPr/>
    </dgm:pt>
    <dgm:pt modelId="{0B4F5ED1-E301-4E6D-A37D-81AFAE75A511}" type="pres">
      <dgm:prSet presAssocID="{DB8C0FCD-75CA-4089-A83C-64AB47929124}" presName="node" presStyleLbl="node1" presStyleIdx="4" presStyleCnt="5">
        <dgm:presLayoutVars>
          <dgm:bulletEnabled val="1"/>
        </dgm:presLayoutVars>
      </dgm:prSet>
      <dgm:spPr/>
    </dgm:pt>
  </dgm:ptLst>
  <dgm:cxnLst>
    <dgm:cxn modelId="{A0ECF00D-B2B2-49B9-BF3F-D8B9854D5E29}" srcId="{9DF1D864-AE2D-4D30-9FA6-CE63F2D07230}" destId="{DB8C0FCD-75CA-4089-A83C-64AB47929124}" srcOrd="4" destOrd="0" parTransId="{6B51FCDE-2CE8-4533-9727-D604FD65F451}" sibTransId="{A552703B-008F-4E46-9A24-0E028EFFACFA}"/>
    <dgm:cxn modelId="{85C62C12-AF54-4720-A222-39B3974BD63D}" type="presOf" srcId="{CDA446E0-DFE9-4001-A64F-245025CC7F4B}" destId="{1E2B7CD2-7595-42C0-8313-C2DE50116BA1}" srcOrd="1" destOrd="0" presId="urn:microsoft.com/office/officeart/2016/7/layout/RepeatingBendingProcessNew"/>
    <dgm:cxn modelId="{A8FBCE19-5786-4B84-818D-1C719D6AE22C}" type="presOf" srcId="{8C581D78-D477-4D31-A5AF-B7BC2DB79A4E}" destId="{F46B9129-08F6-4A9F-84AE-13BDDAD5493F}" srcOrd="1" destOrd="0" presId="urn:microsoft.com/office/officeart/2016/7/layout/RepeatingBendingProcessNew"/>
    <dgm:cxn modelId="{A53CD244-B415-4C72-8965-CDF43522386B}" type="presOf" srcId="{4B704E36-2C65-49F3-A28E-157E8D7EF88F}" destId="{C426F028-98FA-4081-BCB4-9E36DC6B85DD}" srcOrd="1" destOrd="0" presId="urn:microsoft.com/office/officeart/2016/7/layout/RepeatingBendingProcessNew"/>
    <dgm:cxn modelId="{4BBC5C47-A9B5-4AF1-958F-489E5FC3609D}" srcId="{9DF1D864-AE2D-4D30-9FA6-CE63F2D07230}" destId="{B22DB9F2-6EF5-448B-AEA1-E0C48DDFEF5A}" srcOrd="2" destOrd="0" parTransId="{6F18E09F-C4BB-484C-8D0E-63AAF0C496AE}" sibTransId="{CDA446E0-DFE9-4001-A64F-245025CC7F4B}"/>
    <dgm:cxn modelId="{A9256848-7C52-4204-B921-38E54094A3A9}" type="presOf" srcId="{DB8C0FCD-75CA-4089-A83C-64AB47929124}" destId="{0B4F5ED1-E301-4E6D-A37D-81AFAE75A511}" srcOrd="0" destOrd="0" presId="urn:microsoft.com/office/officeart/2016/7/layout/RepeatingBendingProcessNew"/>
    <dgm:cxn modelId="{E43F856D-6F03-4BC5-8ED9-1A0D9185F3B4}" type="presOf" srcId="{9DF1D864-AE2D-4D30-9FA6-CE63F2D07230}" destId="{FFD691F2-B915-4D47-A056-790A9929C3AF}" srcOrd="0" destOrd="0" presId="urn:microsoft.com/office/officeart/2016/7/layout/RepeatingBendingProcessNew"/>
    <dgm:cxn modelId="{5B008B6D-7172-412B-9A8E-46FCB7E71465}" type="presOf" srcId="{3FA5DF52-BAD8-4539-84DF-0FC7FA6E836C}" destId="{A5870721-9187-471E-A0A3-946FFE2C6ECE}" srcOrd="0" destOrd="0" presId="urn:microsoft.com/office/officeart/2016/7/layout/RepeatingBendingProcessNew"/>
    <dgm:cxn modelId="{33B87755-A27A-4A4E-B8AB-E8375906F27A}" type="presOf" srcId="{28E9EE25-D716-4FD1-882D-B87A296EA893}" destId="{0ADCDF92-23D0-4F7D-B074-F5C8C49375D9}" srcOrd="0" destOrd="0" presId="urn:microsoft.com/office/officeart/2016/7/layout/RepeatingBendingProcessNew"/>
    <dgm:cxn modelId="{08998177-8FA6-4A65-AFD1-10CE5CFE3F91}" type="presOf" srcId="{8BBF6A90-7EB3-4A61-8266-4C27D874DEF1}" destId="{8C617D81-34C9-4374-8506-D0DDBD798EB7}" srcOrd="0" destOrd="0" presId="urn:microsoft.com/office/officeart/2016/7/layout/RepeatingBendingProcessNew"/>
    <dgm:cxn modelId="{24917C80-83EB-4ACC-AFFA-B8246A37BBC1}" type="presOf" srcId="{CDA446E0-DFE9-4001-A64F-245025CC7F4B}" destId="{1955D9AB-E0FC-47A1-99FC-6048FEDFABFC}" srcOrd="0" destOrd="0" presId="urn:microsoft.com/office/officeart/2016/7/layout/RepeatingBendingProcessNew"/>
    <dgm:cxn modelId="{A335988C-A922-43E9-9436-E1A21613D3FF}" srcId="{9DF1D864-AE2D-4D30-9FA6-CE63F2D07230}" destId="{3FA5DF52-BAD8-4539-84DF-0FC7FA6E836C}" srcOrd="3" destOrd="0" parTransId="{A679DE48-3728-4EC8-AD04-6B3F3DCECEF5}" sibTransId="{DE2F163C-39B0-4D4D-A0FE-CCC1DF35D3CA}"/>
    <dgm:cxn modelId="{EB8A87AA-34ED-4B0A-881A-B5773BB5AA3E}" type="presOf" srcId="{8C581D78-D477-4D31-A5AF-B7BC2DB79A4E}" destId="{0C053E32-4F22-409C-A148-064FAAC36ACE}" srcOrd="0" destOrd="0" presId="urn:microsoft.com/office/officeart/2016/7/layout/RepeatingBendingProcessNew"/>
    <dgm:cxn modelId="{E87C5ABE-1BB5-4118-868C-837AF955CCC7}" type="presOf" srcId="{DE2F163C-39B0-4D4D-A0FE-CCC1DF35D3CA}" destId="{6282DB7E-9A4A-4344-BBBE-602EE99107E3}" srcOrd="1" destOrd="0" presId="urn:microsoft.com/office/officeart/2016/7/layout/RepeatingBendingProcessNew"/>
    <dgm:cxn modelId="{F9F797C3-FA8F-440E-AFF0-D36F6119DE02}" srcId="{9DF1D864-AE2D-4D30-9FA6-CE63F2D07230}" destId="{8BBF6A90-7EB3-4A61-8266-4C27D874DEF1}" srcOrd="1" destOrd="0" parTransId="{8E46857C-1F8D-42F4-BC1D-85791BFCF8B4}" sibTransId="{4B704E36-2C65-49F3-A28E-157E8D7EF88F}"/>
    <dgm:cxn modelId="{5EADB1DD-1F4F-434A-97E8-BE2F8A196844}" type="presOf" srcId="{DE2F163C-39B0-4D4D-A0FE-CCC1DF35D3CA}" destId="{80EA9B6F-AB1C-4CB6-B374-09286C1DAFAD}" srcOrd="0" destOrd="0" presId="urn:microsoft.com/office/officeart/2016/7/layout/RepeatingBendingProcessNew"/>
    <dgm:cxn modelId="{C65BD7DD-5C9A-4659-AEAB-DE5660FD3CD9}" srcId="{9DF1D864-AE2D-4D30-9FA6-CE63F2D07230}" destId="{28E9EE25-D716-4FD1-882D-B87A296EA893}" srcOrd="0" destOrd="0" parTransId="{4F700A12-3BD6-44A4-B493-02C556F198E8}" sibTransId="{8C581D78-D477-4D31-A5AF-B7BC2DB79A4E}"/>
    <dgm:cxn modelId="{554452E2-A7EA-4D6E-A0ED-D64E3C17E5D8}" type="presOf" srcId="{B22DB9F2-6EF5-448B-AEA1-E0C48DDFEF5A}" destId="{B8CA73AA-12FE-43AD-AE44-177E627AAC02}" srcOrd="0" destOrd="0" presId="urn:microsoft.com/office/officeart/2016/7/layout/RepeatingBendingProcessNew"/>
    <dgm:cxn modelId="{1D66B5E6-D202-40E8-9F03-49A610869ECF}" type="presOf" srcId="{4B704E36-2C65-49F3-A28E-157E8D7EF88F}" destId="{A10E1500-31D5-47C4-A0A3-0C037A8C4708}" srcOrd="0" destOrd="0" presId="urn:microsoft.com/office/officeart/2016/7/layout/RepeatingBendingProcessNew"/>
    <dgm:cxn modelId="{457EF852-2CC0-4807-A4AC-4805D87909E5}" type="presParOf" srcId="{FFD691F2-B915-4D47-A056-790A9929C3AF}" destId="{0ADCDF92-23D0-4F7D-B074-F5C8C49375D9}" srcOrd="0" destOrd="0" presId="urn:microsoft.com/office/officeart/2016/7/layout/RepeatingBendingProcessNew"/>
    <dgm:cxn modelId="{5053B878-AD76-4AF1-BA2C-CA338C256B55}" type="presParOf" srcId="{FFD691F2-B915-4D47-A056-790A9929C3AF}" destId="{0C053E32-4F22-409C-A148-064FAAC36ACE}" srcOrd="1" destOrd="0" presId="urn:microsoft.com/office/officeart/2016/7/layout/RepeatingBendingProcessNew"/>
    <dgm:cxn modelId="{CCE7AB43-C6E7-4556-8E6F-E4ECFC2087F2}" type="presParOf" srcId="{0C053E32-4F22-409C-A148-064FAAC36ACE}" destId="{F46B9129-08F6-4A9F-84AE-13BDDAD5493F}" srcOrd="0" destOrd="0" presId="urn:microsoft.com/office/officeart/2016/7/layout/RepeatingBendingProcessNew"/>
    <dgm:cxn modelId="{DF9841B6-EDA4-4AE8-B933-61EA92BF4979}" type="presParOf" srcId="{FFD691F2-B915-4D47-A056-790A9929C3AF}" destId="{8C617D81-34C9-4374-8506-D0DDBD798EB7}" srcOrd="2" destOrd="0" presId="urn:microsoft.com/office/officeart/2016/7/layout/RepeatingBendingProcessNew"/>
    <dgm:cxn modelId="{B4B6FF25-4FCD-4433-98E5-5EA4EBD7086A}" type="presParOf" srcId="{FFD691F2-B915-4D47-A056-790A9929C3AF}" destId="{A10E1500-31D5-47C4-A0A3-0C037A8C4708}" srcOrd="3" destOrd="0" presId="urn:microsoft.com/office/officeart/2016/7/layout/RepeatingBendingProcessNew"/>
    <dgm:cxn modelId="{858FEC5F-FED6-4585-9718-209D6CF310FD}" type="presParOf" srcId="{A10E1500-31D5-47C4-A0A3-0C037A8C4708}" destId="{C426F028-98FA-4081-BCB4-9E36DC6B85DD}" srcOrd="0" destOrd="0" presId="urn:microsoft.com/office/officeart/2016/7/layout/RepeatingBendingProcessNew"/>
    <dgm:cxn modelId="{83AEFB62-EE98-4E34-B028-CA64E39069C2}" type="presParOf" srcId="{FFD691F2-B915-4D47-A056-790A9929C3AF}" destId="{B8CA73AA-12FE-43AD-AE44-177E627AAC02}" srcOrd="4" destOrd="0" presId="urn:microsoft.com/office/officeart/2016/7/layout/RepeatingBendingProcessNew"/>
    <dgm:cxn modelId="{1F779E26-003F-4924-BE8D-FC1CACEDF0A6}" type="presParOf" srcId="{FFD691F2-B915-4D47-A056-790A9929C3AF}" destId="{1955D9AB-E0FC-47A1-99FC-6048FEDFABFC}" srcOrd="5" destOrd="0" presId="urn:microsoft.com/office/officeart/2016/7/layout/RepeatingBendingProcessNew"/>
    <dgm:cxn modelId="{65DEC4F0-D8AD-4584-AA96-6561223D36F5}" type="presParOf" srcId="{1955D9AB-E0FC-47A1-99FC-6048FEDFABFC}" destId="{1E2B7CD2-7595-42C0-8313-C2DE50116BA1}" srcOrd="0" destOrd="0" presId="urn:microsoft.com/office/officeart/2016/7/layout/RepeatingBendingProcessNew"/>
    <dgm:cxn modelId="{FB1C368C-0366-41A6-8F97-267CB3C70B0A}" type="presParOf" srcId="{FFD691F2-B915-4D47-A056-790A9929C3AF}" destId="{A5870721-9187-471E-A0A3-946FFE2C6ECE}" srcOrd="6" destOrd="0" presId="urn:microsoft.com/office/officeart/2016/7/layout/RepeatingBendingProcessNew"/>
    <dgm:cxn modelId="{51E49A5E-2985-4D61-8FC8-2D7B50DC2C2E}" type="presParOf" srcId="{FFD691F2-B915-4D47-A056-790A9929C3AF}" destId="{80EA9B6F-AB1C-4CB6-B374-09286C1DAFAD}" srcOrd="7" destOrd="0" presId="urn:microsoft.com/office/officeart/2016/7/layout/RepeatingBendingProcessNew"/>
    <dgm:cxn modelId="{271D8BFA-5D82-43CA-9A8B-E6B0B36C9E68}" type="presParOf" srcId="{80EA9B6F-AB1C-4CB6-B374-09286C1DAFAD}" destId="{6282DB7E-9A4A-4344-BBBE-602EE99107E3}" srcOrd="0" destOrd="0" presId="urn:microsoft.com/office/officeart/2016/7/layout/RepeatingBendingProcessNew"/>
    <dgm:cxn modelId="{3CF30A70-2C7D-4FCB-995C-069590DEDF37}" type="presParOf" srcId="{FFD691F2-B915-4D47-A056-790A9929C3AF}" destId="{0B4F5ED1-E301-4E6D-A37D-81AFAE75A511}" srcOrd="8" destOrd="0" presId="urn:microsoft.com/office/officeart/2016/7/layout/RepeatingBendingProcessNew"/>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65C80F0-D8EB-476F-9BE6-5A2FFE165996}" type="doc">
      <dgm:prSet loTypeId="urn:microsoft.com/office/officeart/2005/8/layout/hierarchy1" loCatId="hierarchy" qsTypeId="urn:microsoft.com/office/officeart/2005/8/quickstyle/simple1" qsCatId="simple" csTypeId="urn:microsoft.com/office/officeart/2005/8/colors/accent0_3" csCatId="mainScheme"/>
      <dgm:spPr/>
      <dgm:t>
        <a:bodyPr/>
        <a:lstStyle/>
        <a:p>
          <a:endParaRPr lang="en-US"/>
        </a:p>
      </dgm:t>
    </dgm:pt>
    <dgm:pt modelId="{A797D8EB-8E89-4E81-B7FD-5408AC885572}">
      <dgm:prSet/>
      <dgm:spPr/>
      <dgm:t>
        <a:bodyPr/>
        <a:lstStyle/>
        <a:p>
          <a:r>
            <a:rPr lang="en-US"/>
            <a:t>Machine learning models can significantly improve </a:t>
          </a:r>
          <a:r>
            <a:rPr lang="en-US" b="1"/>
            <a:t>early detection of stroke risk</a:t>
          </a:r>
          <a:r>
            <a:rPr lang="en-US"/>
            <a:t>, enabling healthcare providers to implement preventive strategies such as lifestyle interventions, blood pressure management, and personalized treatment plans.</a:t>
          </a:r>
        </a:p>
      </dgm:t>
    </dgm:pt>
    <dgm:pt modelId="{1251AB95-C272-467F-AEC3-60609E7EABB2}" type="parTrans" cxnId="{0894B2CE-0EEF-4724-BCC7-30825A17399D}">
      <dgm:prSet/>
      <dgm:spPr/>
      <dgm:t>
        <a:bodyPr/>
        <a:lstStyle/>
        <a:p>
          <a:endParaRPr lang="en-US"/>
        </a:p>
      </dgm:t>
    </dgm:pt>
    <dgm:pt modelId="{99B81259-1E28-4C83-BCC7-523DC4CB8583}" type="sibTrans" cxnId="{0894B2CE-0EEF-4724-BCC7-30825A17399D}">
      <dgm:prSet/>
      <dgm:spPr/>
      <dgm:t>
        <a:bodyPr/>
        <a:lstStyle/>
        <a:p>
          <a:endParaRPr lang="en-US"/>
        </a:p>
      </dgm:t>
    </dgm:pt>
    <dgm:pt modelId="{3221B4C5-6E60-4F30-B4CB-E5FCA50D432C}">
      <dgm:prSet/>
      <dgm:spPr/>
      <dgm:t>
        <a:bodyPr/>
        <a:lstStyle/>
        <a:p>
          <a:r>
            <a:rPr lang="en-US"/>
            <a:t>However, ethical considerations including </a:t>
          </a:r>
          <a:r>
            <a:rPr lang="en-US" b="1"/>
            <a:t>data privacy, algorithmic fairness, transparency, and human oversight </a:t>
          </a:r>
          <a:r>
            <a:rPr lang="en-US"/>
            <a:t>must be addressed to ensure responsible and trustworthy use of predictive systems in healthcare.</a:t>
          </a:r>
        </a:p>
      </dgm:t>
    </dgm:pt>
    <dgm:pt modelId="{630497A5-3B3E-4245-9730-0519C780543D}" type="parTrans" cxnId="{68BAC119-9F4C-46F6-874D-76EF8D321AFE}">
      <dgm:prSet/>
      <dgm:spPr/>
      <dgm:t>
        <a:bodyPr/>
        <a:lstStyle/>
        <a:p>
          <a:endParaRPr lang="en-US"/>
        </a:p>
      </dgm:t>
    </dgm:pt>
    <dgm:pt modelId="{FD051A1F-0C4B-4531-83A6-8058F245CC78}" type="sibTrans" cxnId="{68BAC119-9F4C-46F6-874D-76EF8D321AFE}">
      <dgm:prSet/>
      <dgm:spPr/>
      <dgm:t>
        <a:bodyPr/>
        <a:lstStyle/>
        <a:p>
          <a:endParaRPr lang="en-US"/>
        </a:p>
      </dgm:t>
    </dgm:pt>
    <dgm:pt modelId="{FEA3A31F-17FD-4545-A919-CEE4F106CEF7}" type="pres">
      <dgm:prSet presAssocID="{965C80F0-D8EB-476F-9BE6-5A2FFE165996}" presName="hierChild1" presStyleCnt="0">
        <dgm:presLayoutVars>
          <dgm:chPref val="1"/>
          <dgm:dir/>
          <dgm:animOne val="branch"/>
          <dgm:animLvl val="lvl"/>
          <dgm:resizeHandles/>
        </dgm:presLayoutVars>
      </dgm:prSet>
      <dgm:spPr/>
    </dgm:pt>
    <dgm:pt modelId="{F896EDCF-D69D-4D8C-B3FD-C62D9ED9CFE6}" type="pres">
      <dgm:prSet presAssocID="{A797D8EB-8E89-4E81-B7FD-5408AC885572}" presName="hierRoot1" presStyleCnt="0"/>
      <dgm:spPr/>
    </dgm:pt>
    <dgm:pt modelId="{D6BC54CB-DE3D-41D8-A60C-DE2F37E12184}" type="pres">
      <dgm:prSet presAssocID="{A797D8EB-8E89-4E81-B7FD-5408AC885572}" presName="composite" presStyleCnt="0"/>
      <dgm:spPr/>
    </dgm:pt>
    <dgm:pt modelId="{B91C737B-26F3-40A7-8094-3DD579119603}" type="pres">
      <dgm:prSet presAssocID="{A797D8EB-8E89-4E81-B7FD-5408AC885572}" presName="background" presStyleLbl="node0" presStyleIdx="0" presStyleCnt="2"/>
      <dgm:spPr/>
    </dgm:pt>
    <dgm:pt modelId="{BD6AF008-40A0-4ACD-B2F3-C8E9CA4ECBE6}" type="pres">
      <dgm:prSet presAssocID="{A797D8EB-8E89-4E81-B7FD-5408AC885572}" presName="text" presStyleLbl="fgAcc0" presStyleIdx="0" presStyleCnt="2">
        <dgm:presLayoutVars>
          <dgm:chPref val="3"/>
        </dgm:presLayoutVars>
      </dgm:prSet>
      <dgm:spPr/>
    </dgm:pt>
    <dgm:pt modelId="{AD87ECFF-6C60-4250-873A-D50832FB4F76}" type="pres">
      <dgm:prSet presAssocID="{A797D8EB-8E89-4E81-B7FD-5408AC885572}" presName="hierChild2" presStyleCnt="0"/>
      <dgm:spPr/>
    </dgm:pt>
    <dgm:pt modelId="{C9E6BB30-7474-4D7F-9DF8-3C83654C2253}" type="pres">
      <dgm:prSet presAssocID="{3221B4C5-6E60-4F30-B4CB-E5FCA50D432C}" presName="hierRoot1" presStyleCnt="0"/>
      <dgm:spPr/>
    </dgm:pt>
    <dgm:pt modelId="{FEF55495-77AF-4937-A55E-4CC951E6FA92}" type="pres">
      <dgm:prSet presAssocID="{3221B4C5-6E60-4F30-B4CB-E5FCA50D432C}" presName="composite" presStyleCnt="0"/>
      <dgm:spPr/>
    </dgm:pt>
    <dgm:pt modelId="{6F0A13C2-96E5-4DC6-918D-91D48BEB2B98}" type="pres">
      <dgm:prSet presAssocID="{3221B4C5-6E60-4F30-B4CB-E5FCA50D432C}" presName="background" presStyleLbl="node0" presStyleIdx="1" presStyleCnt="2"/>
      <dgm:spPr/>
    </dgm:pt>
    <dgm:pt modelId="{7F6F4137-D361-4F9D-9452-41A5F2F6C11F}" type="pres">
      <dgm:prSet presAssocID="{3221B4C5-6E60-4F30-B4CB-E5FCA50D432C}" presName="text" presStyleLbl="fgAcc0" presStyleIdx="1" presStyleCnt="2">
        <dgm:presLayoutVars>
          <dgm:chPref val="3"/>
        </dgm:presLayoutVars>
      </dgm:prSet>
      <dgm:spPr/>
    </dgm:pt>
    <dgm:pt modelId="{5BFEB7AE-3685-475D-8B9F-DE246B34AB75}" type="pres">
      <dgm:prSet presAssocID="{3221B4C5-6E60-4F30-B4CB-E5FCA50D432C}" presName="hierChild2" presStyleCnt="0"/>
      <dgm:spPr/>
    </dgm:pt>
  </dgm:ptLst>
  <dgm:cxnLst>
    <dgm:cxn modelId="{95D3A90A-0CBA-44E8-9D97-E4BCCDE4FFA3}" type="presOf" srcId="{A797D8EB-8E89-4E81-B7FD-5408AC885572}" destId="{BD6AF008-40A0-4ACD-B2F3-C8E9CA4ECBE6}" srcOrd="0" destOrd="0" presId="urn:microsoft.com/office/officeart/2005/8/layout/hierarchy1"/>
    <dgm:cxn modelId="{68BAC119-9F4C-46F6-874D-76EF8D321AFE}" srcId="{965C80F0-D8EB-476F-9BE6-5A2FFE165996}" destId="{3221B4C5-6E60-4F30-B4CB-E5FCA50D432C}" srcOrd="1" destOrd="0" parTransId="{630497A5-3B3E-4245-9730-0519C780543D}" sibTransId="{FD051A1F-0C4B-4531-83A6-8058F245CC78}"/>
    <dgm:cxn modelId="{0F8D02A3-4B3D-43AA-BC3E-FE716D84BD24}" type="presOf" srcId="{965C80F0-D8EB-476F-9BE6-5A2FFE165996}" destId="{FEA3A31F-17FD-4545-A919-CEE4F106CEF7}" srcOrd="0" destOrd="0" presId="urn:microsoft.com/office/officeart/2005/8/layout/hierarchy1"/>
    <dgm:cxn modelId="{0894B2CE-0EEF-4724-BCC7-30825A17399D}" srcId="{965C80F0-D8EB-476F-9BE6-5A2FFE165996}" destId="{A797D8EB-8E89-4E81-B7FD-5408AC885572}" srcOrd="0" destOrd="0" parTransId="{1251AB95-C272-467F-AEC3-60609E7EABB2}" sibTransId="{99B81259-1E28-4C83-BCC7-523DC4CB8583}"/>
    <dgm:cxn modelId="{E6721BFB-6898-4938-9618-6E5832EF1A25}" type="presOf" srcId="{3221B4C5-6E60-4F30-B4CB-E5FCA50D432C}" destId="{7F6F4137-D361-4F9D-9452-41A5F2F6C11F}" srcOrd="0" destOrd="0" presId="urn:microsoft.com/office/officeart/2005/8/layout/hierarchy1"/>
    <dgm:cxn modelId="{A862663D-7FED-4C5E-8B83-2719FD77A6BC}" type="presParOf" srcId="{FEA3A31F-17FD-4545-A919-CEE4F106CEF7}" destId="{F896EDCF-D69D-4D8C-B3FD-C62D9ED9CFE6}" srcOrd="0" destOrd="0" presId="urn:microsoft.com/office/officeart/2005/8/layout/hierarchy1"/>
    <dgm:cxn modelId="{4CD86A98-88CA-4E45-81D7-0E10C9AEC802}" type="presParOf" srcId="{F896EDCF-D69D-4D8C-B3FD-C62D9ED9CFE6}" destId="{D6BC54CB-DE3D-41D8-A60C-DE2F37E12184}" srcOrd="0" destOrd="0" presId="urn:microsoft.com/office/officeart/2005/8/layout/hierarchy1"/>
    <dgm:cxn modelId="{9BE7D623-3D8D-4128-B8E4-A732DA815745}" type="presParOf" srcId="{D6BC54CB-DE3D-41D8-A60C-DE2F37E12184}" destId="{B91C737B-26F3-40A7-8094-3DD579119603}" srcOrd="0" destOrd="0" presId="urn:microsoft.com/office/officeart/2005/8/layout/hierarchy1"/>
    <dgm:cxn modelId="{FFED0087-20F4-4243-838B-1C7517059693}" type="presParOf" srcId="{D6BC54CB-DE3D-41D8-A60C-DE2F37E12184}" destId="{BD6AF008-40A0-4ACD-B2F3-C8E9CA4ECBE6}" srcOrd="1" destOrd="0" presId="urn:microsoft.com/office/officeart/2005/8/layout/hierarchy1"/>
    <dgm:cxn modelId="{31329E68-A0A7-45AE-B81D-A6F609FFE75A}" type="presParOf" srcId="{F896EDCF-D69D-4D8C-B3FD-C62D9ED9CFE6}" destId="{AD87ECFF-6C60-4250-873A-D50832FB4F76}" srcOrd="1" destOrd="0" presId="urn:microsoft.com/office/officeart/2005/8/layout/hierarchy1"/>
    <dgm:cxn modelId="{9047F5FE-764F-4485-9135-62777ED7D3C6}" type="presParOf" srcId="{FEA3A31F-17FD-4545-A919-CEE4F106CEF7}" destId="{C9E6BB30-7474-4D7F-9DF8-3C83654C2253}" srcOrd="1" destOrd="0" presId="urn:microsoft.com/office/officeart/2005/8/layout/hierarchy1"/>
    <dgm:cxn modelId="{EA8EE450-1416-42E2-AF73-476C89ED4D7F}" type="presParOf" srcId="{C9E6BB30-7474-4D7F-9DF8-3C83654C2253}" destId="{FEF55495-77AF-4937-A55E-4CC951E6FA92}" srcOrd="0" destOrd="0" presId="urn:microsoft.com/office/officeart/2005/8/layout/hierarchy1"/>
    <dgm:cxn modelId="{83C9CC14-3963-42B5-BA93-5ECF6A78E5F0}" type="presParOf" srcId="{FEF55495-77AF-4937-A55E-4CC951E6FA92}" destId="{6F0A13C2-96E5-4DC6-918D-91D48BEB2B98}" srcOrd="0" destOrd="0" presId="urn:microsoft.com/office/officeart/2005/8/layout/hierarchy1"/>
    <dgm:cxn modelId="{256AEC8A-A9C2-479C-9D02-CB034CD9A367}" type="presParOf" srcId="{FEF55495-77AF-4937-A55E-4CC951E6FA92}" destId="{7F6F4137-D361-4F9D-9452-41A5F2F6C11F}" srcOrd="1" destOrd="0" presId="urn:microsoft.com/office/officeart/2005/8/layout/hierarchy1"/>
    <dgm:cxn modelId="{424B5469-81D0-4AA3-88AF-360590E64933}" type="presParOf" srcId="{C9E6BB30-7474-4D7F-9DF8-3C83654C2253}" destId="{5BFEB7AE-3685-475D-8B9F-DE246B34AB75}"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0A3B981-4ECA-4223-B479-5E9A3D5F7DA3}">
      <dsp:nvSpPr>
        <dsp:cNvPr id="0" name=""/>
        <dsp:cNvSpPr/>
      </dsp:nvSpPr>
      <dsp:spPr>
        <a:xfrm>
          <a:off x="0" y="43430"/>
          <a:ext cx="6666833" cy="1031940"/>
        </a:xfrm>
        <a:prstGeom prst="round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 Early Risk Screening</a:t>
          </a:r>
          <a:br>
            <a:rPr lang="en-US" sz="1800" kern="1200"/>
          </a:br>
          <a:r>
            <a:rPr lang="en-US" sz="1800" kern="1200"/>
            <a:t> Identify high-risk patients through regular health checkups and predictive models.</a:t>
          </a:r>
        </a:p>
      </dsp:txBody>
      <dsp:txXfrm>
        <a:off x="50375" y="93805"/>
        <a:ext cx="6566083" cy="931190"/>
      </dsp:txXfrm>
    </dsp:sp>
    <dsp:sp modelId="{D089CBB0-B186-4407-9727-2A507050F3AB}">
      <dsp:nvSpPr>
        <dsp:cNvPr id="0" name=""/>
        <dsp:cNvSpPr/>
      </dsp:nvSpPr>
      <dsp:spPr>
        <a:xfrm>
          <a:off x="0" y="1127210"/>
          <a:ext cx="6666833" cy="1031940"/>
        </a:xfrm>
        <a:prstGeom prst="roundRect">
          <a:avLst/>
        </a:prstGeom>
        <a:gradFill rotWithShape="0">
          <a:gsLst>
            <a:gs pos="0">
              <a:schemeClr val="accent5">
                <a:hueOff val="-3038037"/>
                <a:satOff val="-207"/>
                <a:lumOff val="490"/>
                <a:alphaOff val="0"/>
                <a:satMod val="103000"/>
                <a:lumMod val="102000"/>
                <a:tint val="94000"/>
              </a:schemeClr>
            </a:gs>
            <a:gs pos="50000">
              <a:schemeClr val="accent5">
                <a:hueOff val="-3038037"/>
                <a:satOff val="-207"/>
                <a:lumOff val="490"/>
                <a:alphaOff val="0"/>
                <a:satMod val="110000"/>
                <a:lumMod val="100000"/>
                <a:shade val="100000"/>
              </a:schemeClr>
            </a:gs>
            <a:gs pos="100000">
              <a:schemeClr val="accent5">
                <a:hueOff val="-3038037"/>
                <a:satOff val="-207"/>
                <a:lumOff val="49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 Blood Pressure Control</a:t>
          </a:r>
          <a:br>
            <a:rPr lang="en-US" sz="1800" kern="1200"/>
          </a:br>
          <a:r>
            <a:rPr lang="en-US" sz="1800" kern="1200"/>
            <a:t> Monitor and manage hypertension through medication and lifestyle adjustments.</a:t>
          </a:r>
        </a:p>
      </dsp:txBody>
      <dsp:txXfrm>
        <a:off x="50375" y="1177585"/>
        <a:ext cx="6566083" cy="931190"/>
      </dsp:txXfrm>
    </dsp:sp>
    <dsp:sp modelId="{16052C4C-4A29-434B-A1A7-75295DCC8138}">
      <dsp:nvSpPr>
        <dsp:cNvPr id="0" name=""/>
        <dsp:cNvSpPr/>
      </dsp:nvSpPr>
      <dsp:spPr>
        <a:xfrm>
          <a:off x="0" y="2210990"/>
          <a:ext cx="6666833" cy="1031940"/>
        </a:xfrm>
        <a:prstGeom prst="roundRect">
          <a:avLst/>
        </a:prstGeom>
        <a:gradFill rotWithShape="0">
          <a:gsLst>
            <a:gs pos="0">
              <a:schemeClr val="accent5">
                <a:hueOff val="-6076075"/>
                <a:satOff val="-413"/>
                <a:lumOff val="981"/>
                <a:alphaOff val="0"/>
                <a:satMod val="103000"/>
                <a:lumMod val="102000"/>
                <a:tint val="94000"/>
              </a:schemeClr>
            </a:gs>
            <a:gs pos="50000">
              <a:schemeClr val="accent5">
                <a:hueOff val="-6076075"/>
                <a:satOff val="-413"/>
                <a:lumOff val="981"/>
                <a:alphaOff val="0"/>
                <a:satMod val="110000"/>
                <a:lumMod val="100000"/>
                <a:shade val="100000"/>
              </a:schemeClr>
            </a:gs>
            <a:gs pos="100000">
              <a:schemeClr val="accent5">
                <a:hueOff val="-6076075"/>
                <a:satOff val="-413"/>
                <a:lumOff val="981"/>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 Diabetes &amp; Glucose Management</a:t>
          </a:r>
          <a:br>
            <a:rPr lang="en-US" sz="1800" kern="1200"/>
          </a:br>
          <a:r>
            <a:rPr lang="en-US" sz="1800" kern="1200"/>
            <a:t> Encourage regular blood sugar monitoring and healthy diet plans.</a:t>
          </a:r>
        </a:p>
      </dsp:txBody>
      <dsp:txXfrm>
        <a:off x="50375" y="2261365"/>
        <a:ext cx="6566083" cy="931190"/>
      </dsp:txXfrm>
    </dsp:sp>
    <dsp:sp modelId="{7DE4AF6F-A87E-4805-8790-01450E9A8D99}">
      <dsp:nvSpPr>
        <dsp:cNvPr id="0" name=""/>
        <dsp:cNvSpPr/>
      </dsp:nvSpPr>
      <dsp:spPr>
        <a:xfrm>
          <a:off x="0" y="3294770"/>
          <a:ext cx="6666833" cy="1031940"/>
        </a:xfrm>
        <a:prstGeom prst="roundRect">
          <a:avLst/>
        </a:prstGeom>
        <a:gradFill rotWithShape="0">
          <a:gsLst>
            <a:gs pos="0">
              <a:schemeClr val="accent5">
                <a:hueOff val="-9114112"/>
                <a:satOff val="-620"/>
                <a:lumOff val="1471"/>
                <a:alphaOff val="0"/>
                <a:satMod val="103000"/>
                <a:lumMod val="102000"/>
                <a:tint val="94000"/>
              </a:schemeClr>
            </a:gs>
            <a:gs pos="50000">
              <a:schemeClr val="accent5">
                <a:hueOff val="-9114112"/>
                <a:satOff val="-620"/>
                <a:lumOff val="1471"/>
                <a:alphaOff val="0"/>
                <a:satMod val="110000"/>
                <a:lumMod val="100000"/>
                <a:shade val="100000"/>
              </a:schemeClr>
            </a:gs>
            <a:gs pos="100000">
              <a:schemeClr val="accent5">
                <a:hueOff val="-9114112"/>
                <a:satOff val="-620"/>
                <a:lumOff val="1471"/>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 Lifestyle Improvement Programs</a:t>
          </a:r>
          <a:br>
            <a:rPr lang="en-US" sz="1800" kern="1200"/>
          </a:br>
          <a:r>
            <a:rPr lang="en-US" sz="1800" kern="1200"/>
            <a:t> Promote smoking cessation, exercise, healthy diet, and weight management.</a:t>
          </a:r>
        </a:p>
      </dsp:txBody>
      <dsp:txXfrm>
        <a:off x="50375" y="3345145"/>
        <a:ext cx="6566083" cy="931190"/>
      </dsp:txXfrm>
    </dsp:sp>
    <dsp:sp modelId="{0A88C6A6-FF7A-4E8D-841F-C1CBCAD0ED72}">
      <dsp:nvSpPr>
        <dsp:cNvPr id="0" name=""/>
        <dsp:cNvSpPr/>
      </dsp:nvSpPr>
      <dsp:spPr>
        <a:xfrm>
          <a:off x="0" y="4378550"/>
          <a:ext cx="6666833" cy="1031940"/>
        </a:xfrm>
        <a:prstGeom prst="roundRect">
          <a:avLst/>
        </a:prstGeom>
        <a:gradFill rotWithShape="0">
          <a:gsLst>
            <a:gs pos="0">
              <a:schemeClr val="accent5">
                <a:hueOff val="-12152150"/>
                <a:satOff val="-826"/>
                <a:lumOff val="1961"/>
                <a:alphaOff val="0"/>
                <a:satMod val="103000"/>
                <a:lumMod val="102000"/>
                <a:tint val="94000"/>
              </a:schemeClr>
            </a:gs>
            <a:gs pos="50000">
              <a:schemeClr val="accent5">
                <a:hueOff val="-12152150"/>
                <a:satOff val="-826"/>
                <a:lumOff val="1961"/>
                <a:alphaOff val="0"/>
                <a:satMod val="110000"/>
                <a:lumMod val="100000"/>
                <a:shade val="100000"/>
              </a:schemeClr>
            </a:gs>
            <a:gs pos="100000">
              <a:schemeClr val="accent5">
                <a:hueOff val="-12152150"/>
                <a:satOff val="-826"/>
                <a:lumOff val="1961"/>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 Personalized Preventive Care</a:t>
          </a:r>
          <a:br>
            <a:rPr lang="en-US" sz="1800" kern="1200"/>
          </a:br>
          <a:r>
            <a:rPr lang="en-US" sz="1800" kern="1200"/>
            <a:t> Provide targeted monitoring and treatment plans for patients identified as high risk.</a:t>
          </a:r>
        </a:p>
      </dsp:txBody>
      <dsp:txXfrm>
        <a:off x="50375" y="4428925"/>
        <a:ext cx="6566083" cy="93119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C053E32-4F22-409C-A148-064FAAC36ACE}">
      <dsp:nvSpPr>
        <dsp:cNvPr id="0" name=""/>
        <dsp:cNvSpPr/>
      </dsp:nvSpPr>
      <dsp:spPr>
        <a:xfrm>
          <a:off x="3323664" y="834988"/>
          <a:ext cx="643158" cy="91440"/>
        </a:xfrm>
        <a:custGeom>
          <a:avLst/>
          <a:gdLst/>
          <a:ahLst/>
          <a:cxnLst/>
          <a:rect l="0" t="0" r="0" b="0"/>
          <a:pathLst>
            <a:path>
              <a:moveTo>
                <a:pt x="0" y="45720"/>
              </a:moveTo>
              <a:lnTo>
                <a:pt x="643158" y="45720"/>
              </a:lnTo>
            </a:path>
          </a:pathLst>
        </a:custGeom>
        <a:noFill/>
        <a:ln w="1270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628399" y="877339"/>
        <a:ext cx="33687" cy="6737"/>
      </dsp:txXfrm>
    </dsp:sp>
    <dsp:sp modelId="{0ADCDF92-23D0-4F7D-B074-F5C8C49375D9}">
      <dsp:nvSpPr>
        <dsp:cNvPr id="0" name=""/>
        <dsp:cNvSpPr/>
      </dsp:nvSpPr>
      <dsp:spPr>
        <a:xfrm>
          <a:off x="396080" y="1893"/>
          <a:ext cx="2929383" cy="1757630"/>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3542" tIns="150673" rIns="143542" bIns="150673" numCol="1" spcCol="1270" anchor="ctr" anchorCtr="0">
          <a:noAutofit/>
        </a:bodyPr>
        <a:lstStyle/>
        <a:p>
          <a:pPr marL="0" lvl="0" indent="0" algn="ctr" defTabSz="666750">
            <a:lnSpc>
              <a:spcPct val="90000"/>
            </a:lnSpc>
            <a:spcBef>
              <a:spcPct val="0"/>
            </a:spcBef>
            <a:spcAft>
              <a:spcPct val="35000"/>
            </a:spcAft>
            <a:buNone/>
            <a:defRPr cap="all"/>
          </a:pPr>
          <a:r>
            <a:rPr lang="en-US" sz="1500" kern="1200"/>
            <a:t>🔒 Patient Data Privacy</a:t>
          </a:r>
          <a:br>
            <a:rPr lang="en-US" sz="1500" kern="1200"/>
          </a:br>
          <a:r>
            <a:rPr lang="en-US" sz="1500" kern="1200"/>
            <a:t> Ensure secure storage and responsible handling of sensitive health data.</a:t>
          </a:r>
        </a:p>
      </dsp:txBody>
      <dsp:txXfrm>
        <a:off x="396080" y="1893"/>
        <a:ext cx="2929383" cy="1757630"/>
      </dsp:txXfrm>
    </dsp:sp>
    <dsp:sp modelId="{A10E1500-31D5-47C4-A0A3-0C037A8C4708}">
      <dsp:nvSpPr>
        <dsp:cNvPr id="0" name=""/>
        <dsp:cNvSpPr/>
      </dsp:nvSpPr>
      <dsp:spPr>
        <a:xfrm>
          <a:off x="6926806" y="834988"/>
          <a:ext cx="643158" cy="91440"/>
        </a:xfrm>
        <a:custGeom>
          <a:avLst/>
          <a:gdLst/>
          <a:ahLst/>
          <a:cxnLst/>
          <a:rect l="0" t="0" r="0" b="0"/>
          <a:pathLst>
            <a:path>
              <a:moveTo>
                <a:pt x="0" y="45720"/>
              </a:moveTo>
              <a:lnTo>
                <a:pt x="643158" y="45720"/>
              </a:lnTo>
            </a:path>
          </a:pathLst>
        </a:custGeom>
        <a:noFill/>
        <a:ln w="1270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7231541" y="877339"/>
        <a:ext cx="33687" cy="6737"/>
      </dsp:txXfrm>
    </dsp:sp>
    <dsp:sp modelId="{8C617D81-34C9-4374-8506-D0DDBD798EB7}">
      <dsp:nvSpPr>
        <dsp:cNvPr id="0" name=""/>
        <dsp:cNvSpPr/>
      </dsp:nvSpPr>
      <dsp:spPr>
        <a:xfrm>
          <a:off x="3999222" y="1893"/>
          <a:ext cx="2929383" cy="1757630"/>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3542" tIns="150673" rIns="143542" bIns="150673" numCol="1" spcCol="1270" anchor="ctr" anchorCtr="0">
          <a:noAutofit/>
        </a:bodyPr>
        <a:lstStyle/>
        <a:p>
          <a:pPr marL="0" lvl="0" indent="0" algn="ctr" defTabSz="666750">
            <a:lnSpc>
              <a:spcPct val="90000"/>
            </a:lnSpc>
            <a:spcBef>
              <a:spcPct val="0"/>
            </a:spcBef>
            <a:spcAft>
              <a:spcPct val="35000"/>
            </a:spcAft>
            <a:buNone/>
            <a:defRPr cap="all"/>
          </a:pPr>
          <a:r>
            <a:rPr lang="en-US" sz="1500" kern="1200"/>
            <a:t>⚖️ Algorithmic Fairness</a:t>
          </a:r>
          <a:br>
            <a:rPr lang="en-US" sz="1500" kern="1200"/>
          </a:br>
          <a:r>
            <a:rPr lang="en-US" sz="1500" kern="1200"/>
            <a:t> Use diverse and representative datasets to prevent biased predictions.</a:t>
          </a:r>
        </a:p>
      </dsp:txBody>
      <dsp:txXfrm>
        <a:off x="3999222" y="1893"/>
        <a:ext cx="2929383" cy="1757630"/>
      </dsp:txXfrm>
    </dsp:sp>
    <dsp:sp modelId="{1955D9AB-E0FC-47A1-99FC-6048FEDFABFC}">
      <dsp:nvSpPr>
        <dsp:cNvPr id="0" name=""/>
        <dsp:cNvSpPr/>
      </dsp:nvSpPr>
      <dsp:spPr>
        <a:xfrm>
          <a:off x="1860772" y="1757723"/>
          <a:ext cx="7206284" cy="643158"/>
        </a:xfrm>
        <a:custGeom>
          <a:avLst/>
          <a:gdLst/>
          <a:ahLst/>
          <a:cxnLst/>
          <a:rect l="0" t="0" r="0" b="0"/>
          <a:pathLst>
            <a:path>
              <a:moveTo>
                <a:pt x="7206284" y="0"/>
              </a:moveTo>
              <a:lnTo>
                <a:pt x="7206284" y="338679"/>
              </a:lnTo>
              <a:lnTo>
                <a:pt x="0" y="338679"/>
              </a:lnTo>
              <a:lnTo>
                <a:pt x="0" y="643158"/>
              </a:lnTo>
            </a:path>
          </a:pathLst>
        </a:custGeom>
        <a:noFill/>
        <a:ln w="12700" cap="flat" cmpd="sng" algn="ctr">
          <a:solidFill>
            <a:schemeClr val="accent4">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282971" y="2075933"/>
        <a:ext cx="361885" cy="6737"/>
      </dsp:txXfrm>
    </dsp:sp>
    <dsp:sp modelId="{B8CA73AA-12FE-43AD-AE44-177E627AAC02}">
      <dsp:nvSpPr>
        <dsp:cNvPr id="0" name=""/>
        <dsp:cNvSpPr/>
      </dsp:nvSpPr>
      <dsp:spPr>
        <a:xfrm>
          <a:off x="7602364" y="1893"/>
          <a:ext cx="2929383" cy="1757630"/>
        </a:xfrm>
        <a:prstGeom prst="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3542" tIns="150673" rIns="143542" bIns="150673" numCol="1" spcCol="1270" anchor="ctr" anchorCtr="0">
          <a:noAutofit/>
        </a:bodyPr>
        <a:lstStyle/>
        <a:p>
          <a:pPr marL="0" lvl="0" indent="0" algn="ctr" defTabSz="666750">
            <a:lnSpc>
              <a:spcPct val="90000"/>
            </a:lnSpc>
            <a:spcBef>
              <a:spcPct val="0"/>
            </a:spcBef>
            <a:spcAft>
              <a:spcPct val="35000"/>
            </a:spcAft>
            <a:buNone/>
            <a:defRPr cap="all"/>
          </a:pPr>
          <a:r>
            <a:rPr lang="en-US" sz="1500" kern="1200"/>
            <a:t>🔍 Transparency &amp; Explainability</a:t>
          </a:r>
          <a:br>
            <a:rPr lang="en-US" sz="1500" kern="1200"/>
          </a:br>
          <a:r>
            <a:rPr lang="en-US" sz="1500" kern="1200"/>
            <a:t> Healthcare professionals should understand how the model generates predictions.</a:t>
          </a:r>
        </a:p>
      </dsp:txBody>
      <dsp:txXfrm>
        <a:off x="7602364" y="1893"/>
        <a:ext cx="2929383" cy="1757630"/>
      </dsp:txXfrm>
    </dsp:sp>
    <dsp:sp modelId="{80EA9B6F-AB1C-4CB6-B374-09286C1DAFAD}">
      <dsp:nvSpPr>
        <dsp:cNvPr id="0" name=""/>
        <dsp:cNvSpPr/>
      </dsp:nvSpPr>
      <dsp:spPr>
        <a:xfrm>
          <a:off x="3323664" y="3266376"/>
          <a:ext cx="643158" cy="91440"/>
        </a:xfrm>
        <a:custGeom>
          <a:avLst/>
          <a:gdLst/>
          <a:ahLst/>
          <a:cxnLst/>
          <a:rect l="0" t="0" r="0" b="0"/>
          <a:pathLst>
            <a:path>
              <a:moveTo>
                <a:pt x="0" y="45720"/>
              </a:moveTo>
              <a:lnTo>
                <a:pt x="643158" y="45720"/>
              </a:lnTo>
            </a:path>
          </a:pathLst>
        </a:custGeom>
        <a:noFill/>
        <a:ln w="12700" cap="flat" cmpd="sng" algn="ctr">
          <a:solidFill>
            <a:schemeClr val="accent5">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628399" y="3308728"/>
        <a:ext cx="33687" cy="6737"/>
      </dsp:txXfrm>
    </dsp:sp>
    <dsp:sp modelId="{A5870721-9187-471E-A0A3-946FFE2C6ECE}">
      <dsp:nvSpPr>
        <dsp:cNvPr id="0" name=""/>
        <dsp:cNvSpPr/>
      </dsp:nvSpPr>
      <dsp:spPr>
        <a:xfrm>
          <a:off x="396080" y="2433281"/>
          <a:ext cx="2929383" cy="1757630"/>
        </a:xfrm>
        <a:prstGeom prst="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3542" tIns="150673" rIns="143542" bIns="150673" numCol="1" spcCol="1270" anchor="ctr" anchorCtr="0">
          <a:noAutofit/>
        </a:bodyPr>
        <a:lstStyle/>
        <a:p>
          <a:pPr marL="0" lvl="0" indent="0" algn="ctr" defTabSz="666750">
            <a:lnSpc>
              <a:spcPct val="90000"/>
            </a:lnSpc>
            <a:spcBef>
              <a:spcPct val="0"/>
            </a:spcBef>
            <a:spcAft>
              <a:spcPct val="35000"/>
            </a:spcAft>
            <a:buNone/>
            <a:defRPr cap="all"/>
          </a:pPr>
          <a:r>
            <a:rPr lang="en-US" sz="1500" kern="1200"/>
            <a:t>👩‍⚕️ Human Oversight</a:t>
          </a:r>
          <a:br>
            <a:rPr lang="en-US" sz="1500" kern="1200"/>
          </a:br>
          <a:r>
            <a:rPr lang="en-US" sz="1500" kern="1200"/>
            <a:t> AI systems should assist doctors, not replace clinical judgment.</a:t>
          </a:r>
        </a:p>
      </dsp:txBody>
      <dsp:txXfrm>
        <a:off x="396080" y="2433281"/>
        <a:ext cx="2929383" cy="1757630"/>
      </dsp:txXfrm>
    </dsp:sp>
    <dsp:sp modelId="{0B4F5ED1-E301-4E6D-A37D-81AFAE75A511}">
      <dsp:nvSpPr>
        <dsp:cNvPr id="0" name=""/>
        <dsp:cNvSpPr/>
      </dsp:nvSpPr>
      <dsp:spPr>
        <a:xfrm>
          <a:off x="3999222" y="2433281"/>
          <a:ext cx="2929383" cy="1757630"/>
        </a:xfrm>
        <a:prstGeom prst="rect">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3542" tIns="150673" rIns="143542" bIns="150673" numCol="1" spcCol="1270" anchor="ctr" anchorCtr="0">
          <a:noAutofit/>
        </a:bodyPr>
        <a:lstStyle/>
        <a:p>
          <a:pPr marL="0" lvl="0" indent="0" algn="ctr" defTabSz="666750">
            <a:lnSpc>
              <a:spcPct val="90000"/>
            </a:lnSpc>
            <a:spcBef>
              <a:spcPct val="0"/>
            </a:spcBef>
            <a:spcAft>
              <a:spcPct val="35000"/>
            </a:spcAft>
            <a:buNone/>
            <a:defRPr cap="all"/>
          </a:pPr>
          <a:r>
            <a:rPr lang="en-US" sz="1500" kern="1200"/>
            <a:t>⚠️ Managing Prediction Errors</a:t>
          </a:r>
          <a:br>
            <a:rPr lang="en-US" sz="1500" kern="1200"/>
          </a:br>
          <a:r>
            <a:rPr lang="en-US" sz="1500" kern="1200"/>
            <a:t> Monitor false positives and false negatives to avoid harmful medical decisions.</a:t>
          </a:r>
        </a:p>
      </dsp:txBody>
      <dsp:txXfrm>
        <a:off x="3999222" y="2433281"/>
        <a:ext cx="2929383" cy="175763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91C737B-26F3-40A7-8094-3DD579119603}">
      <dsp:nvSpPr>
        <dsp:cNvPr id="0" name=""/>
        <dsp:cNvSpPr/>
      </dsp:nvSpPr>
      <dsp:spPr>
        <a:xfrm>
          <a:off x="1266" y="517603"/>
          <a:ext cx="4446816" cy="2823728"/>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D6AF008-40A0-4ACD-B2F3-C8E9CA4ECBE6}">
      <dsp:nvSpPr>
        <dsp:cNvPr id="0" name=""/>
        <dsp:cNvSpPr/>
      </dsp:nvSpPr>
      <dsp:spPr>
        <a:xfrm>
          <a:off x="495357" y="986989"/>
          <a:ext cx="4446816" cy="2823728"/>
        </a:xfrm>
        <a:prstGeom prst="roundRect">
          <a:avLst>
            <a:gd name="adj" fmla="val 1000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a:t>Machine learning models can significantly improve </a:t>
          </a:r>
          <a:r>
            <a:rPr lang="en-US" sz="2200" b="1" kern="1200"/>
            <a:t>early detection of stroke risk</a:t>
          </a:r>
          <a:r>
            <a:rPr lang="en-US" sz="2200" kern="1200"/>
            <a:t>, enabling healthcare providers to implement preventive strategies such as lifestyle interventions, blood pressure management, and personalized treatment plans.</a:t>
          </a:r>
        </a:p>
      </dsp:txBody>
      <dsp:txXfrm>
        <a:off x="578061" y="1069693"/>
        <a:ext cx="4281408" cy="2658320"/>
      </dsp:txXfrm>
    </dsp:sp>
    <dsp:sp modelId="{6F0A13C2-96E5-4DC6-918D-91D48BEB2B98}">
      <dsp:nvSpPr>
        <dsp:cNvPr id="0" name=""/>
        <dsp:cNvSpPr/>
      </dsp:nvSpPr>
      <dsp:spPr>
        <a:xfrm>
          <a:off x="5436265" y="517603"/>
          <a:ext cx="4446816" cy="2823728"/>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F6F4137-D361-4F9D-9452-41A5F2F6C11F}">
      <dsp:nvSpPr>
        <dsp:cNvPr id="0" name=""/>
        <dsp:cNvSpPr/>
      </dsp:nvSpPr>
      <dsp:spPr>
        <a:xfrm>
          <a:off x="5930356" y="986989"/>
          <a:ext cx="4446816" cy="2823728"/>
        </a:xfrm>
        <a:prstGeom prst="roundRect">
          <a:avLst>
            <a:gd name="adj" fmla="val 1000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a:t>However, ethical considerations including </a:t>
          </a:r>
          <a:r>
            <a:rPr lang="en-US" sz="2200" b="1" kern="1200"/>
            <a:t>data privacy, algorithmic fairness, transparency, and human oversight </a:t>
          </a:r>
          <a:r>
            <a:rPr lang="en-US" sz="2200" kern="1200"/>
            <a:t>must be addressed to ensure responsible and trustworthy use of predictive systems in healthcare.</a:t>
          </a:r>
        </a:p>
      </dsp:txBody>
      <dsp:txXfrm>
        <a:off x="6013060" y="1069693"/>
        <a:ext cx="4281408" cy="265832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3/13/2026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3/13/2026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3/13/2026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3/13/2026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3/13/2026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3/13/2026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3/13/2026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3/13/2026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3/13/2026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3/13/2026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3/13/2026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3/13/2026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8ECBFEF8-9038-4E5E-A5F1-E4DC230355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descr="A poster of a doctor&#10;&#10;AI-generated content may be incorrect.">
            <a:extLst>
              <a:ext uri="{FF2B5EF4-FFF2-40B4-BE49-F238E27FC236}">
                <a16:creationId xmlns:a16="http://schemas.microsoft.com/office/drawing/2014/main" id="{53087055-07E3-42AD-C80A-464BEAD89808}"/>
              </a:ext>
            </a:extLst>
          </p:cNvPr>
          <p:cNvPicPr>
            <a:picLocks noChangeAspect="1"/>
          </p:cNvPicPr>
          <p:nvPr/>
        </p:nvPicPr>
        <p:blipFill>
          <a:blip r:embed="rId2"/>
          <a:srcRect r="-1" b="1622"/>
          <a:stretch>
            <a:fillRect/>
          </a:stretch>
        </p:blipFill>
        <p:spPr>
          <a:xfrm>
            <a:off x="1669474" y="10"/>
            <a:ext cx="10522527" cy="6857990"/>
          </a:xfrm>
          <a:custGeom>
            <a:avLst/>
            <a:gdLst/>
            <a:ahLst/>
            <a:cxnLst/>
            <a:rect l="l" t="t" r="r" b="b"/>
            <a:pathLst>
              <a:path w="10522527" h="6858000">
                <a:moveTo>
                  <a:pt x="2882142" y="0"/>
                </a:moveTo>
                <a:lnTo>
                  <a:pt x="10522527" y="0"/>
                </a:lnTo>
                <a:lnTo>
                  <a:pt x="10522527" y="6858000"/>
                </a:lnTo>
                <a:lnTo>
                  <a:pt x="80697" y="6858000"/>
                </a:lnTo>
                <a:lnTo>
                  <a:pt x="37339" y="6516785"/>
                </a:lnTo>
                <a:cubicBezTo>
                  <a:pt x="12648" y="6273664"/>
                  <a:pt x="0" y="6026982"/>
                  <a:pt x="0" y="5777347"/>
                </a:cubicBezTo>
                <a:cubicBezTo>
                  <a:pt x="0" y="3530630"/>
                  <a:pt x="1024495" y="1523197"/>
                  <a:pt x="2631803" y="196728"/>
                </a:cubicBezTo>
                <a:close/>
              </a:path>
            </a:pathLst>
          </a:custGeom>
        </p:spPr>
      </p:pic>
      <p:sp>
        <p:nvSpPr>
          <p:cNvPr id="16" name="Arc 15">
            <a:extLst>
              <a:ext uri="{FF2B5EF4-FFF2-40B4-BE49-F238E27FC236}">
                <a16:creationId xmlns:a16="http://schemas.microsoft.com/office/drawing/2014/main" id="{F37E8EB2-7BE0-4F3D-921C-F4E9C2C149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427715">
            <a:off x="1108520" y="775849"/>
            <a:ext cx="2987899" cy="2987899"/>
          </a:xfrm>
          <a:prstGeom prst="arc">
            <a:avLst>
              <a:gd name="adj1" fmla="val 16200000"/>
              <a:gd name="adj2" fmla="val 2287352"/>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 name="Oval 16">
            <a:extLst>
              <a:ext uri="{FF2B5EF4-FFF2-40B4-BE49-F238E27FC236}">
                <a16:creationId xmlns:a16="http://schemas.microsoft.com/office/drawing/2014/main" id="{E77AE46B-A945-4A7E-9911-903176079D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742" y="5649686"/>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910658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 name="Slide Background Fill">
            <a:extLst>
              <a:ext uri="{FF2B5EF4-FFF2-40B4-BE49-F238E27FC236}">
                <a16:creationId xmlns:a16="http://schemas.microsoft.com/office/drawing/2014/main" id="{C3420C89-0B09-4632-A4AF-3971D08BF7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Color Cover">
            <a:extLst>
              <a:ext uri="{FF2B5EF4-FFF2-40B4-BE49-F238E27FC236}">
                <a16:creationId xmlns:a16="http://schemas.microsoft.com/office/drawing/2014/main" id="{4E5CBA61-BF74-40B4-A3A8-366BBA626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53" name="Group 52">
            <a:extLst>
              <a:ext uri="{FF2B5EF4-FFF2-40B4-BE49-F238E27FC236}">
                <a16:creationId xmlns:a16="http://schemas.microsoft.com/office/drawing/2014/main" id="{AC27E70C-5470-4262-B9CE-AE52C51CF4C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2929"/>
            <a:ext cx="12188952" cy="3490956"/>
            <a:chOff x="651279" y="598259"/>
            <a:chExt cx="10889442" cy="5680742"/>
          </a:xfrm>
        </p:grpSpPr>
        <p:sp>
          <p:nvSpPr>
            <p:cNvPr id="40" name="Color">
              <a:extLst>
                <a:ext uri="{FF2B5EF4-FFF2-40B4-BE49-F238E27FC236}">
                  <a16:creationId xmlns:a16="http://schemas.microsoft.com/office/drawing/2014/main" id="{B5C7D35F-738C-47DF-AD6E-859806E460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4" name="Color">
              <a:extLst>
                <a:ext uri="{FF2B5EF4-FFF2-40B4-BE49-F238E27FC236}">
                  <a16:creationId xmlns:a16="http://schemas.microsoft.com/office/drawing/2014/main" id="{740F8C8B-E52F-46CF-89C7-51C6A037CF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20" name="Graphic 19" descr="Brain in head">
            <a:extLst>
              <a:ext uri="{FF2B5EF4-FFF2-40B4-BE49-F238E27FC236}">
                <a16:creationId xmlns:a16="http://schemas.microsoft.com/office/drawing/2014/main" id="{E72EB9B6-6D57-138D-5EF7-A519683F612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805030" y="1065276"/>
            <a:ext cx="4727448" cy="4727448"/>
          </a:xfrm>
          <a:prstGeom prst="rect">
            <a:avLst/>
          </a:prstGeom>
        </p:spPr>
      </p:pic>
      <p:grpSp>
        <p:nvGrpSpPr>
          <p:cNvPr id="55" name="Group 54">
            <a:extLst>
              <a:ext uri="{FF2B5EF4-FFF2-40B4-BE49-F238E27FC236}">
                <a16:creationId xmlns:a16="http://schemas.microsoft.com/office/drawing/2014/main" id="{E27AF472-EAE3-4572-AB69-B92BD10DBC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44" name="Freeform: Shape 43">
              <a:extLst>
                <a:ext uri="{FF2B5EF4-FFF2-40B4-BE49-F238E27FC236}">
                  <a16:creationId xmlns:a16="http://schemas.microsoft.com/office/drawing/2014/main" id="{BF4DB9D2-6215-420C-874C-82EADF8C6C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45" name="Freeform: Shape 44">
              <a:extLst>
                <a:ext uri="{FF2B5EF4-FFF2-40B4-BE49-F238E27FC236}">
                  <a16:creationId xmlns:a16="http://schemas.microsoft.com/office/drawing/2014/main" id="{1F003139-C97C-44FA-B139-32E4DFDCE9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46" name="Freeform: Shape 45">
              <a:extLst>
                <a:ext uri="{FF2B5EF4-FFF2-40B4-BE49-F238E27FC236}">
                  <a16:creationId xmlns:a16="http://schemas.microsoft.com/office/drawing/2014/main" id="{5CE4DD6E-8CEA-45EE-B630-DBC22144D8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47" name="Freeform: Shape 46">
              <a:extLst>
                <a:ext uri="{FF2B5EF4-FFF2-40B4-BE49-F238E27FC236}">
                  <a16:creationId xmlns:a16="http://schemas.microsoft.com/office/drawing/2014/main" id="{A4372F7F-AA3C-470B-AA61-7C35B7722C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48" name="Freeform: Shape 47">
              <a:extLst>
                <a:ext uri="{FF2B5EF4-FFF2-40B4-BE49-F238E27FC236}">
                  <a16:creationId xmlns:a16="http://schemas.microsoft.com/office/drawing/2014/main" id="{34B605BF-D199-43DD-9328-E99F2ADFC6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49" name="Freeform: Shape 48">
              <a:extLst>
                <a:ext uri="{FF2B5EF4-FFF2-40B4-BE49-F238E27FC236}">
                  <a16:creationId xmlns:a16="http://schemas.microsoft.com/office/drawing/2014/main" id="{E5D42A77-7336-4A35-8922-8098A16AA2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50" name="Freeform: Shape 49">
              <a:extLst>
                <a:ext uri="{FF2B5EF4-FFF2-40B4-BE49-F238E27FC236}">
                  <a16:creationId xmlns:a16="http://schemas.microsoft.com/office/drawing/2014/main" id="{7401EE7D-B85D-4C10-AB8C-71884EFB11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a:extLst>
              <a:ext uri="{FF2B5EF4-FFF2-40B4-BE49-F238E27FC236}">
                <a16:creationId xmlns:a16="http://schemas.microsoft.com/office/drawing/2014/main" id="{65931177-20C2-A4E2-930D-B2380AE2ADCF}"/>
              </a:ext>
            </a:extLst>
          </p:cNvPr>
          <p:cNvSpPr>
            <a:spLocks noGrp="1"/>
          </p:cNvSpPr>
          <p:nvPr>
            <p:ph type="title"/>
          </p:nvPr>
        </p:nvSpPr>
        <p:spPr>
          <a:xfrm>
            <a:off x="786384" y="841249"/>
            <a:ext cx="5692953" cy="2587131"/>
          </a:xfrm>
        </p:spPr>
        <p:txBody>
          <a:bodyPr anchor="b">
            <a:normAutofit/>
          </a:bodyPr>
          <a:lstStyle/>
          <a:p>
            <a:r>
              <a:rPr lang="en-US" sz="4800">
                <a:solidFill>
                  <a:schemeClr val="bg1"/>
                </a:solidFill>
              </a:rPr>
              <a:t>Introduction</a:t>
            </a:r>
          </a:p>
        </p:txBody>
      </p:sp>
      <p:sp>
        <p:nvSpPr>
          <p:cNvPr id="3" name="Content Placeholder 2">
            <a:extLst>
              <a:ext uri="{FF2B5EF4-FFF2-40B4-BE49-F238E27FC236}">
                <a16:creationId xmlns:a16="http://schemas.microsoft.com/office/drawing/2014/main" id="{39EED594-CB63-199F-141C-5504C9844290}"/>
              </a:ext>
            </a:extLst>
          </p:cNvPr>
          <p:cNvSpPr>
            <a:spLocks noGrp="1"/>
          </p:cNvSpPr>
          <p:nvPr>
            <p:ph idx="1"/>
          </p:nvPr>
        </p:nvSpPr>
        <p:spPr>
          <a:xfrm>
            <a:off x="786383" y="4242950"/>
            <a:ext cx="5692953" cy="1974970"/>
          </a:xfrm>
        </p:spPr>
        <p:txBody>
          <a:bodyPr vert="horz" lIns="91440" tIns="45720" rIns="91440" bIns="45720" rtlCol="0" anchor="ctr">
            <a:noAutofit/>
          </a:bodyPr>
          <a:lstStyle/>
          <a:p>
            <a:r>
              <a:rPr lang="en-US" sz="1600" dirty="0">
                <a:solidFill>
                  <a:schemeClr val="tx2"/>
                </a:solidFill>
                <a:ea typeface="+mn-lt"/>
                <a:cs typeface="+mn-lt"/>
              </a:rPr>
              <a:t>Stroke is still one of the leading causes of death and long-term disability worldwide. Many stroke cases occur without early warning, making timely prevention difficult.</a:t>
            </a:r>
            <a:endParaRPr lang="en-US" sz="1600" dirty="0">
              <a:solidFill>
                <a:schemeClr val="tx2"/>
              </a:solidFill>
            </a:endParaRPr>
          </a:p>
          <a:p>
            <a:r>
              <a:rPr lang="en-US" sz="1600" dirty="0">
                <a:solidFill>
                  <a:schemeClr val="tx2"/>
                </a:solidFill>
                <a:ea typeface="+mn-lt"/>
                <a:cs typeface="+mn-lt"/>
              </a:rPr>
              <a:t>Healthcare providers need effective tools to identify individuals at elevated risk before a stroke occurs. However, analyzing multiple medical and lifestyle factors manually can be challenging and time-consuming.</a:t>
            </a:r>
            <a:endParaRPr lang="en-US" sz="1600" dirty="0">
              <a:solidFill>
                <a:schemeClr val="tx2"/>
              </a:solidFill>
            </a:endParaRPr>
          </a:p>
          <a:p>
            <a:r>
              <a:rPr lang="en-US" sz="1600">
                <a:solidFill>
                  <a:schemeClr val="tx2"/>
                </a:solidFill>
                <a:ea typeface="+mn-lt"/>
                <a:cs typeface="+mn-lt"/>
              </a:rPr>
              <a:t>This project aims to develop a machine learning classification model that predicts the likelihood of stroke using patient demographic, lifestyle, and medical data, enabling healthcare professionals to support early detection and preventive intervention.</a:t>
            </a:r>
            <a:endParaRPr lang="en-US" sz="1600">
              <a:solidFill>
                <a:schemeClr val="tx2"/>
              </a:solidFill>
            </a:endParaRPr>
          </a:p>
          <a:p>
            <a:endParaRPr lang="en-US" sz="1400">
              <a:solidFill>
                <a:schemeClr val="tx2"/>
              </a:solidFill>
            </a:endParaRPr>
          </a:p>
        </p:txBody>
      </p:sp>
    </p:spTree>
    <p:extLst>
      <p:ext uri="{BB962C8B-B14F-4D97-AF65-F5344CB8AC3E}">
        <p14:creationId xmlns:p14="http://schemas.microsoft.com/office/powerpoint/2010/main" val="4706015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76530-DF2D-37C7-CEC9-845B3464327C}"/>
              </a:ext>
            </a:extLst>
          </p:cNvPr>
          <p:cNvSpPr>
            <a:spLocks noGrp="1"/>
          </p:cNvSpPr>
          <p:nvPr>
            <p:ph type="title"/>
          </p:nvPr>
        </p:nvSpPr>
        <p:spPr>
          <a:xfrm>
            <a:off x="7271189" y="741391"/>
            <a:ext cx="4082610" cy="534657"/>
          </a:xfrm>
        </p:spPr>
        <p:txBody>
          <a:bodyPr anchor="b">
            <a:normAutofit/>
          </a:bodyPr>
          <a:lstStyle/>
          <a:p>
            <a:r>
              <a:rPr lang="en-US" sz="3200"/>
              <a:t>What is Stroke</a:t>
            </a:r>
          </a:p>
        </p:txBody>
      </p:sp>
      <p:pic>
        <p:nvPicPr>
          <p:cNvPr id="24" name="Graphic 23" descr="Brain">
            <a:extLst>
              <a:ext uri="{FF2B5EF4-FFF2-40B4-BE49-F238E27FC236}">
                <a16:creationId xmlns:a16="http://schemas.microsoft.com/office/drawing/2014/main" id="{3EBCA13D-315E-AD51-5377-D7455C3F22A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423866" y="744206"/>
            <a:ext cx="4192819" cy="5249785"/>
          </a:xfrm>
          <a:prstGeom prst="rect">
            <a:avLst/>
          </a:prstGeom>
        </p:spPr>
      </p:pic>
      <p:sp>
        <p:nvSpPr>
          <p:cNvPr id="3" name="Content Placeholder 2">
            <a:extLst>
              <a:ext uri="{FF2B5EF4-FFF2-40B4-BE49-F238E27FC236}">
                <a16:creationId xmlns:a16="http://schemas.microsoft.com/office/drawing/2014/main" id="{01F1F6A9-863F-4262-998D-CDAFCA2CD45E}"/>
              </a:ext>
            </a:extLst>
          </p:cNvPr>
          <p:cNvSpPr>
            <a:spLocks noGrp="1"/>
          </p:cNvSpPr>
          <p:nvPr>
            <p:ph idx="1"/>
          </p:nvPr>
        </p:nvSpPr>
        <p:spPr>
          <a:xfrm>
            <a:off x="6398577" y="1279865"/>
            <a:ext cx="4955222" cy="4517089"/>
          </a:xfrm>
        </p:spPr>
        <p:txBody>
          <a:bodyPr vert="horz" lIns="91440" tIns="45720" rIns="91440" bIns="45720" rtlCol="0" anchor="t">
            <a:noAutofit/>
          </a:bodyPr>
          <a:lstStyle/>
          <a:p>
            <a:pPr marL="0" indent="0">
              <a:buNone/>
            </a:pPr>
            <a:r>
              <a:rPr lang="en-US" sz="1400">
                <a:ea typeface="+mn-lt"/>
                <a:cs typeface="+mn-lt"/>
              </a:rPr>
              <a:t>A stroke (also called a cerebrovascular accident or brain attack) is a serious medical emergency that occurs when blood flow to part of the brain is suddenly interrupted or reduced. Without oxygen and nutrients from blood, brain cells begin to die within minutes, leading to permanent brain damage, disability, or death if not treated quickly.</a:t>
            </a:r>
            <a:endParaRPr lang="en-US" sz="1400" dirty="0"/>
          </a:p>
          <a:p>
            <a:pPr marL="0" indent="0">
              <a:buNone/>
            </a:pPr>
            <a:r>
              <a:rPr lang="en-US" sz="1400">
                <a:ea typeface="+mn-lt"/>
                <a:cs typeface="+mn-lt"/>
              </a:rPr>
              <a:t>Key Determinants of Stroke Risk :</a:t>
            </a:r>
            <a:endParaRPr lang="en-US" sz="1400" dirty="0"/>
          </a:p>
          <a:p>
            <a:r>
              <a:rPr lang="en-US" sz="1400"/>
              <a:t>Age</a:t>
            </a:r>
            <a:endParaRPr lang="en-US" sz="1400" dirty="0"/>
          </a:p>
          <a:p>
            <a:r>
              <a:rPr lang="en-US" sz="1400">
                <a:ea typeface="+mn-lt"/>
                <a:cs typeface="+mn-lt"/>
              </a:rPr>
              <a:t>Hypertension (High Blood Pressure)</a:t>
            </a:r>
            <a:endParaRPr lang="en-US" sz="1400" dirty="0"/>
          </a:p>
          <a:p>
            <a:r>
              <a:rPr lang="en-US" sz="1400">
                <a:ea typeface="+mn-lt"/>
                <a:cs typeface="+mn-lt"/>
              </a:rPr>
              <a:t>Heart Disease</a:t>
            </a:r>
            <a:endParaRPr lang="en-US" sz="1400" dirty="0"/>
          </a:p>
          <a:p>
            <a:r>
              <a:rPr lang="en-US" sz="1400">
                <a:ea typeface="+mn-lt"/>
                <a:cs typeface="+mn-lt"/>
              </a:rPr>
              <a:t>Average Glucose Level</a:t>
            </a:r>
            <a:endParaRPr lang="en-US" sz="1400" dirty="0"/>
          </a:p>
          <a:p>
            <a:r>
              <a:rPr lang="en-US" sz="1400">
                <a:ea typeface="+mn-lt"/>
                <a:cs typeface="+mn-lt"/>
              </a:rPr>
              <a:t>Body Mass Index (BMI)</a:t>
            </a:r>
            <a:endParaRPr lang="en-US" sz="1400" dirty="0"/>
          </a:p>
          <a:p>
            <a:r>
              <a:rPr lang="en-US" sz="1400">
                <a:ea typeface="+mn-lt"/>
                <a:cs typeface="+mn-lt"/>
              </a:rPr>
              <a:t>Smoking Status</a:t>
            </a:r>
          </a:p>
          <a:p>
            <a:r>
              <a:rPr lang="en-US" sz="1400">
                <a:ea typeface="+mn-lt"/>
                <a:cs typeface="+mn-lt"/>
              </a:rPr>
              <a:t>Gender</a:t>
            </a:r>
          </a:p>
          <a:p>
            <a:r>
              <a:rPr lang="en-US" sz="1400">
                <a:ea typeface="+mn-lt"/>
                <a:cs typeface="+mn-lt"/>
              </a:rPr>
              <a:t>Work Type</a:t>
            </a:r>
            <a:endParaRPr lang="en-US" sz="1400" dirty="0"/>
          </a:p>
          <a:p>
            <a:r>
              <a:rPr lang="en-US" sz="1400">
                <a:ea typeface="+mn-lt"/>
                <a:cs typeface="+mn-lt"/>
              </a:rPr>
              <a:t>Residence Type (Urban/Rural)</a:t>
            </a:r>
            <a:endParaRPr lang="en-US" sz="1400" dirty="0"/>
          </a:p>
          <a:p>
            <a:r>
              <a:rPr lang="en-US" sz="1400">
                <a:ea typeface="+mn-lt"/>
                <a:cs typeface="+mn-lt"/>
              </a:rPr>
              <a:t>Marital Status</a:t>
            </a:r>
            <a:endParaRPr lang="en-US" sz="1400" dirty="0"/>
          </a:p>
          <a:p>
            <a:pPr marL="0" indent="0">
              <a:buNone/>
            </a:pPr>
            <a:endParaRPr lang="en-US" sz="1400" dirty="0"/>
          </a:p>
          <a:p>
            <a:endParaRPr lang="en-US" sz="1400" dirty="0"/>
          </a:p>
        </p:txBody>
      </p:sp>
      <p:grpSp>
        <p:nvGrpSpPr>
          <p:cNvPr id="221" name="Group 220">
            <a:extLst>
              <a:ext uri="{FF2B5EF4-FFF2-40B4-BE49-F238E27FC236}">
                <a16:creationId xmlns:a16="http://schemas.microsoft.com/office/drawing/2014/main" id="{31C49F18-8757-4E87-5C2E-9D6D7B82BA3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025" y="6737718"/>
            <a:ext cx="12207200" cy="123363"/>
            <a:chOff x="-5025" y="6737718"/>
            <a:chExt cx="12207200" cy="123363"/>
          </a:xfrm>
        </p:grpSpPr>
        <p:sp>
          <p:nvSpPr>
            <p:cNvPr id="31" name="Rectangle 30">
              <a:extLst>
                <a:ext uri="{FF2B5EF4-FFF2-40B4-BE49-F238E27FC236}">
                  <a16:creationId xmlns:a16="http://schemas.microsoft.com/office/drawing/2014/main" id="{25C84D91-E5BF-B919-ACEF-4A25262CEE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2" name="Rectangle 221">
              <a:extLst>
                <a:ext uri="{FF2B5EF4-FFF2-40B4-BE49-F238E27FC236}">
                  <a16:creationId xmlns:a16="http://schemas.microsoft.com/office/drawing/2014/main" id="{DD889E38-27CA-E23F-B646-8D7B4BB17D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6288899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Slide Background Fill">
            <a:extLst>
              <a:ext uri="{FF2B5EF4-FFF2-40B4-BE49-F238E27FC236}">
                <a16:creationId xmlns:a16="http://schemas.microsoft.com/office/drawing/2014/main" id="{44D65982-4F00-4330-8DAA-DE6A9E4D6D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6" name="Group 25">
            <a:extLst>
              <a:ext uri="{FF2B5EF4-FFF2-40B4-BE49-F238E27FC236}">
                <a16:creationId xmlns:a16="http://schemas.microsoft.com/office/drawing/2014/main" id="{400A7B37-4458-4745-AA03-7239FAF2D8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88952" cy="6858000"/>
            <a:chOff x="651279" y="598259"/>
            <a:chExt cx="10889442" cy="5680742"/>
          </a:xfrm>
        </p:grpSpPr>
        <p:sp>
          <p:nvSpPr>
            <p:cNvPr id="13" name="Color">
              <a:extLst>
                <a:ext uri="{FF2B5EF4-FFF2-40B4-BE49-F238E27FC236}">
                  <a16:creationId xmlns:a16="http://schemas.microsoft.com/office/drawing/2014/main" id="{097E1D96-7C8B-400D-A348-5CCBDCAFB7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Color">
              <a:extLst>
                <a:ext uri="{FF2B5EF4-FFF2-40B4-BE49-F238E27FC236}">
                  <a16:creationId xmlns:a16="http://schemas.microsoft.com/office/drawing/2014/main" id="{0E5BB2AC-B50A-43D8-A7F2-1340091989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8" name="Group 27">
            <a:extLst>
              <a:ext uri="{FF2B5EF4-FFF2-40B4-BE49-F238E27FC236}">
                <a16:creationId xmlns:a16="http://schemas.microsoft.com/office/drawing/2014/main" id="{43F5E015-E085-4624-B431-B424144486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17" name="Freeform: Shape 16">
              <a:extLst>
                <a:ext uri="{FF2B5EF4-FFF2-40B4-BE49-F238E27FC236}">
                  <a16:creationId xmlns:a16="http://schemas.microsoft.com/office/drawing/2014/main" id="{4DDB60AE-8B9C-4BA0-93DC-F8C9EBF6D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8" name="Freeform: Shape 17">
              <a:extLst>
                <a:ext uri="{FF2B5EF4-FFF2-40B4-BE49-F238E27FC236}">
                  <a16:creationId xmlns:a16="http://schemas.microsoft.com/office/drawing/2014/main" id="{9F247760-BE07-41A2-969E-570081E65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9" name="Freeform: Shape 18">
              <a:extLst>
                <a:ext uri="{FF2B5EF4-FFF2-40B4-BE49-F238E27FC236}">
                  <a16:creationId xmlns:a16="http://schemas.microsoft.com/office/drawing/2014/main" id="{57A70BD2-76FC-4BDD-9E64-3B93D5EF3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0" name="Freeform: Shape 19">
              <a:extLst>
                <a:ext uri="{FF2B5EF4-FFF2-40B4-BE49-F238E27FC236}">
                  <a16:creationId xmlns:a16="http://schemas.microsoft.com/office/drawing/2014/main" id="{AADD9643-5489-42CB-9762-FBAC2AAE9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1" name="Freeform: Shape 20">
              <a:extLst>
                <a:ext uri="{FF2B5EF4-FFF2-40B4-BE49-F238E27FC236}">
                  <a16:creationId xmlns:a16="http://schemas.microsoft.com/office/drawing/2014/main" id="{09A2C16E-2745-4E3D-BECC-D66755221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2" name="Freeform: Shape 21">
              <a:extLst>
                <a:ext uri="{FF2B5EF4-FFF2-40B4-BE49-F238E27FC236}">
                  <a16:creationId xmlns:a16="http://schemas.microsoft.com/office/drawing/2014/main" id="{52E5A063-571D-4461-9869-B3E93F6E69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3" name="Freeform: Shape 22">
              <a:extLst>
                <a:ext uri="{FF2B5EF4-FFF2-40B4-BE49-F238E27FC236}">
                  <a16:creationId xmlns:a16="http://schemas.microsoft.com/office/drawing/2014/main" id="{366019AD-E33B-4DBF-BAD3-AE361160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a:extLst>
              <a:ext uri="{FF2B5EF4-FFF2-40B4-BE49-F238E27FC236}">
                <a16:creationId xmlns:a16="http://schemas.microsoft.com/office/drawing/2014/main" id="{23004A67-8560-3600-B8FE-47A4F7078D07}"/>
              </a:ext>
            </a:extLst>
          </p:cNvPr>
          <p:cNvSpPr>
            <a:spLocks noGrp="1"/>
          </p:cNvSpPr>
          <p:nvPr>
            <p:ph type="title"/>
          </p:nvPr>
        </p:nvSpPr>
        <p:spPr>
          <a:xfrm>
            <a:off x="808086" y="383457"/>
            <a:ext cx="10545713" cy="2788920"/>
          </a:xfrm>
        </p:spPr>
        <p:txBody>
          <a:bodyPr anchor="b">
            <a:normAutofit/>
          </a:bodyPr>
          <a:lstStyle/>
          <a:p>
            <a:pPr algn="ctr"/>
            <a:r>
              <a:rPr lang="en-US" sz="4800">
                <a:solidFill>
                  <a:schemeClr val="bg1"/>
                </a:solidFill>
              </a:rPr>
              <a:t>Types of Stroke</a:t>
            </a:r>
          </a:p>
        </p:txBody>
      </p:sp>
      <p:sp>
        <p:nvSpPr>
          <p:cNvPr id="25" name="Rectangle 24">
            <a:extLst>
              <a:ext uri="{FF2B5EF4-FFF2-40B4-BE49-F238E27FC236}">
                <a16:creationId xmlns:a16="http://schemas.microsoft.com/office/drawing/2014/main" id="{D143E7E7-E8B6-4540-9F64-16248A70AA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6757" y="3245529"/>
            <a:ext cx="10911259" cy="325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4">
            <a:extLst>
              <a:ext uri="{FF2B5EF4-FFF2-40B4-BE49-F238E27FC236}">
                <a16:creationId xmlns:a16="http://schemas.microsoft.com/office/drawing/2014/main" id="{7214ED71-03AF-0D07-F488-C48559EAD19E}"/>
              </a:ext>
            </a:extLst>
          </p:cNvPr>
          <p:cNvGraphicFramePr>
            <a:graphicFrameLocks noGrp="1"/>
          </p:cNvGraphicFramePr>
          <p:nvPr>
            <p:ph idx="1"/>
            <p:extLst>
              <p:ext uri="{D42A27DB-BD31-4B8C-83A1-F6EECF244321}">
                <p14:modId xmlns:p14="http://schemas.microsoft.com/office/powerpoint/2010/main" val="2552593294"/>
              </p:ext>
            </p:extLst>
          </p:nvPr>
        </p:nvGraphicFramePr>
        <p:xfrm>
          <a:off x="1533128" y="3532613"/>
          <a:ext cx="9125744" cy="2644352"/>
        </p:xfrm>
        <a:graphic>
          <a:graphicData uri="http://schemas.openxmlformats.org/drawingml/2006/table">
            <a:tbl>
              <a:tblPr bandRow="1">
                <a:tableStyleId>{5C22544A-7EE6-4342-B048-85BDC9FD1C3A}</a:tableStyleId>
              </a:tblPr>
              <a:tblGrid>
                <a:gridCol w="3591783">
                  <a:extLst>
                    <a:ext uri="{9D8B030D-6E8A-4147-A177-3AD203B41FA5}">
                      <a16:colId xmlns:a16="http://schemas.microsoft.com/office/drawing/2014/main" val="856958192"/>
                    </a:ext>
                  </a:extLst>
                </a:gridCol>
                <a:gridCol w="3513972">
                  <a:extLst>
                    <a:ext uri="{9D8B030D-6E8A-4147-A177-3AD203B41FA5}">
                      <a16:colId xmlns:a16="http://schemas.microsoft.com/office/drawing/2014/main" val="1341599378"/>
                    </a:ext>
                  </a:extLst>
                </a:gridCol>
                <a:gridCol w="2019989">
                  <a:extLst>
                    <a:ext uri="{9D8B030D-6E8A-4147-A177-3AD203B41FA5}">
                      <a16:colId xmlns:a16="http://schemas.microsoft.com/office/drawing/2014/main" val="312218607"/>
                    </a:ext>
                  </a:extLst>
                </a:gridCol>
              </a:tblGrid>
              <a:tr h="493015">
                <a:tc>
                  <a:txBody>
                    <a:bodyPr/>
                    <a:lstStyle/>
                    <a:p>
                      <a:pPr>
                        <a:buNone/>
                      </a:pPr>
                      <a:r>
                        <a:rPr lang="en-US" sz="2200" b="1"/>
                        <a:t>Stroke Type</a:t>
                      </a:r>
                    </a:p>
                  </a:txBody>
                  <a:tcPr marL="112049" marR="112049" marT="56024" marB="56024" anchor="ctr">
                    <a:lnL>
                      <a:noFill/>
                    </a:lnL>
                    <a:lnR>
                      <a:noFill/>
                    </a:lnR>
                    <a:lnT>
                      <a:noFill/>
                    </a:lnT>
                    <a:lnB>
                      <a:noFill/>
                    </a:lnB>
                    <a:noFill/>
                  </a:tcPr>
                </a:tc>
                <a:tc>
                  <a:txBody>
                    <a:bodyPr/>
                    <a:lstStyle/>
                    <a:p>
                      <a:pPr>
                        <a:buNone/>
                      </a:pPr>
                      <a:r>
                        <a:rPr lang="en-US" sz="2200" b="1"/>
                        <a:t>Cause</a:t>
                      </a:r>
                    </a:p>
                  </a:txBody>
                  <a:tcPr marL="112049" marR="112049" marT="56024" marB="56024" anchor="ctr">
                    <a:lnL>
                      <a:noFill/>
                    </a:lnL>
                    <a:lnR>
                      <a:noFill/>
                    </a:lnR>
                    <a:lnT>
                      <a:noFill/>
                    </a:lnT>
                    <a:lnB>
                      <a:noFill/>
                    </a:lnB>
                    <a:noFill/>
                  </a:tcPr>
                </a:tc>
                <a:tc>
                  <a:txBody>
                    <a:bodyPr/>
                    <a:lstStyle/>
                    <a:p>
                      <a:pPr>
                        <a:buNone/>
                      </a:pPr>
                      <a:r>
                        <a:rPr lang="en-US" sz="2200" b="1"/>
                        <a:t>Frequency</a:t>
                      </a:r>
                    </a:p>
                  </a:txBody>
                  <a:tcPr marL="112049" marR="112049" marT="56024" marB="56024" anchor="ctr">
                    <a:lnL>
                      <a:noFill/>
                    </a:lnL>
                    <a:lnR>
                      <a:noFill/>
                    </a:lnR>
                    <a:lnT>
                      <a:noFill/>
                    </a:lnT>
                    <a:lnB>
                      <a:noFill/>
                    </a:lnB>
                    <a:noFill/>
                  </a:tcPr>
                </a:tc>
                <a:extLst>
                  <a:ext uri="{0D108BD9-81ED-4DB2-BD59-A6C34878D82A}">
                    <a16:rowId xmlns:a16="http://schemas.microsoft.com/office/drawing/2014/main" val="1615169630"/>
                  </a:ext>
                </a:extLst>
              </a:tr>
              <a:tr h="493015">
                <a:tc>
                  <a:txBody>
                    <a:bodyPr/>
                    <a:lstStyle/>
                    <a:p>
                      <a:pPr>
                        <a:buNone/>
                      </a:pPr>
                      <a:r>
                        <a:rPr lang="en-US" sz="2200"/>
                        <a:t>Ischemic Stroke</a:t>
                      </a:r>
                    </a:p>
                  </a:txBody>
                  <a:tcPr marL="112049" marR="112049" marT="56024" marB="56024" anchor="ctr">
                    <a:lnL>
                      <a:noFill/>
                    </a:lnL>
                    <a:lnR>
                      <a:noFill/>
                    </a:lnR>
                    <a:lnT>
                      <a:noFill/>
                    </a:lnT>
                    <a:lnB>
                      <a:noFill/>
                    </a:lnB>
                    <a:noFill/>
                  </a:tcPr>
                </a:tc>
                <a:tc>
                  <a:txBody>
                    <a:bodyPr/>
                    <a:lstStyle/>
                    <a:p>
                      <a:pPr>
                        <a:buNone/>
                      </a:pPr>
                      <a:r>
                        <a:rPr lang="en-US" sz="2200"/>
                        <a:t>Blood clot blocking artery</a:t>
                      </a:r>
                    </a:p>
                  </a:txBody>
                  <a:tcPr marL="112049" marR="112049" marT="56024" marB="56024" anchor="ctr">
                    <a:lnL>
                      <a:noFill/>
                    </a:lnL>
                    <a:lnR>
                      <a:noFill/>
                    </a:lnR>
                    <a:lnT>
                      <a:noFill/>
                    </a:lnT>
                    <a:lnB>
                      <a:noFill/>
                    </a:lnB>
                    <a:noFill/>
                  </a:tcPr>
                </a:tc>
                <a:tc>
                  <a:txBody>
                    <a:bodyPr/>
                    <a:lstStyle/>
                    <a:p>
                      <a:pPr>
                        <a:buNone/>
                      </a:pPr>
                      <a:r>
                        <a:rPr lang="en-US" sz="2200"/>
                        <a:t>~85%</a:t>
                      </a:r>
                    </a:p>
                  </a:txBody>
                  <a:tcPr marL="112049" marR="112049" marT="56024" marB="56024" anchor="ctr">
                    <a:lnL>
                      <a:noFill/>
                    </a:lnL>
                    <a:lnR>
                      <a:noFill/>
                    </a:lnR>
                    <a:lnT>
                      <a:noFill/>
                    </a:lnT>
                    <a:lnB>
                      <a:noFill/>
                    </a:lnB>
                    <a:noFill/>
                  </a:tcPr>
                </a:tc>
                <a:extLst>
                  <a:ext uri="{0D108BD9-81ED-4DB2-BD59-A6C34878D82A}">
                    <a16:rowId xmlns:a16="http://schemas.microsoft.com/office/drawing/2014/main" val="2888158761"/>
                  </a:ext>
                </a:extLst>
              </a:tr>
              <a:tr h="829161">
                <a:tc>
                  <a:txBody>
                    <a:bodyPr/>
                    <a:lstStyle/>
                    <a:p>
                      <a:pPr>
                        <a:buNone/>
                      </a:pPr>
                      <a:r>
                        <a:rPr lang="en-US" sz="2200"/>
                        <a:t>Hemorrhagic Stroke</a:t>
                      </a:r>
                    </a:p>
                  </a:txBody>
                  <a:tcPr marL="112049" marR="112049" marT="56024" marB="56024" anchor="ctr">
                    <a:lnL>
                      <a:noFill/>
                    </a:lnL>
                    <a:lnR>
                      <a:noFill/>
                    </a:lnR>
                    <a:lnT>
                      <a:noFill/>
                    </a:lnT>
                    <a:lnB>
                      <a:noFill/>
                    </a:lnB>
                    <a:noFill/>
                  </a:tcPr>
                </a:tc>
                <a:tc>
                  <a:txBody>
                    <a:bodyPr/>
                    <a:lstStyle/>
                    <a:p>
                      <a:pPr>
                        <a:buNone/>
                      </a:pPr>
                      <a:r>
                        <a:rPr lang="en-US" sz="2200"/>
                        <a:t>Ruptured blood vessel causing bleeding</a:t>
                      </a:r>
                    </a:p>
                  </a:txBody>
                  <a:tcPr marL="112049" marR="112049" marT="56024" marB="56024" anchor="ctr">
                    <a:lnL>
                      <a:noFill/>
                    </a:lnL>
                    <a:lnR>
                      <a:noFill/>
                    </a:lnR>
                    <a:lnT>
                      <a:noFill/>
                    </a:lnT>
                    <a:lnB>
                      <a:noFill/>
                    </a:lnB>
                    <a:noFill/>
                  </a:tcPr>
                </a:tc>
                <a:tc>
                  <a:txBody>
                    <a:bodyPr/>
                    <a:lstStyle/>
                    <a:p>
                      <a:pPr>
                        <a:buNone/>
                      </a:pPr>
                      <a:r>
                        <a:rPr lang="en-US" sz="2200"/>
                        <a:t>~15%</a:t>
                      </a:r>
                    </a:p>
                  </a:txBody>
                  <a:tcPr marL="112049" marR="112049" marT="56024" marB="56024" anchor="ctr">
                    <a:lnL>
                      <a:noFill/>
                    </a:lnL>
                    <a:lnR>
                      <a:noFill/>
                    </a:lnR>
                    <a:lnT>
                      <a:noFill/>
                    </a:lnT>
                    <a:lnB>
                      <a:noFill/>
                    </a:lnB>
                    <a:noFill/>
                  </a:tcPr>
                </a:tc>
                <a:extLst>
                  <a:ext uri="{0D108BD9-81ED-4DB2-BD59-A6C34878D82A}">
                    <a16:rowId xmlns:a16="http://schemas.microsoft.com/office/drawing/2014/main" val="766604681"/>
                  </a:ext>
                </a:extLst>
              </a:tr>
              <a:tr h="829161">
                <a:tc>
                  <a:txBody>
                    <a:bodyPr/>
                    <a:lstStyle/>
                    <a:p>
                      <a:pPr>
                        <a:buNone/>
                      </a:pPr>
                      <a:r>
                        <a:rPr lang="en-US" sz="2200"/>
                        <a:t>Transient Ischemic Attack (TIA)</a:t>
                      </a:r>
                    </a:p>
                  </a:txBody>
                  <a:tcPr marL="112049" marR="112049" marT="56024" marB="56024" anchor="ctr">
                    <a:lnL>
                      <a:noFill/>
                    </a:lnL>
                    <a:lnR>
                      <a:noFill/>
                    </a:lnR>
                    <a:lnT>
                      <a:noFill/>
                    </a:lnT>
                    <a:lnB>
                      <a:noFill/>
                    </a:lnB>
                    <a:noFill/>
                  </a:tcPr>
                </a:tc>
                <a:tc>
                  <a:txBody>
                    <a:bodyPr/>
                    <a:lstStyle/>
                    <a:p>
                      <a:pPr>
                        <a:buNone/>
                      </a:pPr>
                      <a:r>
                        <a:rPr lang="en-US" sz="2200"/>
                        <a:t>Temporary blood flow blockage</a:t>
                      </a:r>
                    </a:p>
                  </a:txBody>
                  <a:tcPr marL="112049" marR="112049" marT="56024" marB="56024" anchor="ctr">
                    <a:lnL>
                      <a:noFill/>
                    </a:lnL>
                    <a:lnR>
                      <a:noFill/>
                    </a:lnR>
                    <a:lnT>
                      <a:noFill/>
                    </a:lnT>
                    <a:lnB>
                      <a:noFill/>
                    </a:lnB>
                    <a:noFill/>
                  </a:tcPr>
                </a:tc>
                <a:tc>
                  <a:txBody>
                    <a:bodyPr/>
                    <a:lstStyle/>
                    <a:p>
                      <a:pPr>
                        <a:buNone/>
                      </a:pPr>
                      <a:r>
                        <a:rPr lang="en-US" sz="2200"/>
                        <a:t>Warning sign</a:t>
                      </a:r>
                    </a:p>
                  </a:txBody>
                  <a:tcPr marL="112049" marR="112049" marT="56024" marB="56024" anchor="ctr">
                    <a:lnL>
                      <a:noFill/>
                    </a:lnL>
                    <a:lnR>
                      <a:noFill/>
                    </a:lnR>
                    <a:lnT>
                      <a:noFill/>
                    </a:lnT>
                    <a:lnB>
                      <a:noFill/>
                    </a:lnB>
                    <a:noFill/>
                  </a:tcPr>
                </a:tc>
                <a:extLst>
                  <a:ext uri="{0D108BD9-81ED-4DB2-BD59-A6C34878D82A}">
                    <a16:rowId xmlns:a16="http://schemas.microsoft.com/office/drawing/2014/main" val="165242836"/>
                  </a:ext>
                </a:extLst>
              </a:tr>
            </a:tbl>
          </a:graphicData>
        </a:graphic>
      </p:graphicFrame>
    </p:spTree>
    <p:extLst>
      <p:ext uri="{BB962C8B-B14F-4D97-AF65-F5344CB8AC3E}">
        <p14:creationId xmlns:p14="http://schemas.microsoft.com/office/powerpoint/2010/main" val="17531266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7" name="Rectangle 36">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Rectangle 40">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863EA31-EAA6-F09A-B275-2197B3611E1A}"/>
              </a:ext>
            </a:extLst>
          </p:cNvPr>
          <p:cNvSpPr>
            <a:spLocks noGrp="1"/>
          </p:cNvSpPr>
          <p:nvPr>
            <p:ph type="title"/>
          </p:nvPr>
        </p:nvSpPr>
        <p:spPr>
          <a:xfrm>
            <a:off x="826396" y="586855"/>
            <a:ext cx="4230100" cy="3387497"/>
          </a:xfrm>
        </p:spPr>
        <p:txBody>
          <a:bodyPr anchor="b">
            <a:normAutofit/>
          </a:bodyPr>
          <a:lstStyle/>
          <a:p>
            <a:pPr algn="r"/>
            <a:r>
              <a:rPr lang="en-US" sz="4000">
                <a:solidFill>
                  <a:srgbClr val="FFFFFF"/>
                </a:solidFill>
                <a:ea typeface="+mj-lt"/>
                <a:cs typeface="+mj-lt"/>
              </a:rPr>
              <a:t>Model</a:t>
            </a:r>
            <a:br>
              <a:rPr lang="en-US" sz="4000">
                <a:solidFill>
                  <a:srgbClr val="FFFFFF"/>
                </a:solidFill>
                <a:ea typeface="+mj-lt"/>
                <a:cs typeface="+mj-lt"/>
              </a:rPr>
            </a:br>
            <a:r>
              <a:rPr lang="en-US" sz="4000">
                <a:solidFill>
                  <a:srgbClr val="FFFFFF"/>
                </a:solidFill>
                <a:ea typeface="+mj-lt"/>
                <a:cs typeface="+mj-lt"/>
              </a:rPr>
              <a:t>Interpretation (Stroke Prediction)</a:t>
            </a:r>
            <a:endParaRPr lang="en-US" sz="4000">
              <a:solidFill>
                <a:srgbClr val="FFFFFF"/>
              </a:solidFill>
            </a:endParaRPr>
          </a:p>
        </p:txBody>
      </p:sp>
      <p:sp>
        <p:nvSpPr>
          <p:cNvPr id="7" name="Content Placeholder 2">
            <a:extLst>
              <a:ext uri="{FF2B5EF4-FFF2-40B4-BE49-F238E27FC236}">
                <a16:creationId xmlns:a16="http://schemas.microsoft.com/office/drawing/2014/main" id="{5C087FBA-50A6-5187-31AD-E0DC828EC07D}"/>
              </a:ext>
            </a:extLst>
          </p:cNvPr>
          <p:cNvSpPr>
            <a:spLocks noGrp="1"/>
          </p:cNvSpPr>
          <p:nvPr>
            <p:ph idx="1"/>
          </p:nvPr>
        </p:nvSpPr>
        <p:spPr>
          <a:xfrm>
            <a:off x="6503158" y="595052"/>
            <a:ext cx="4862447" cy="5763760"/>
          </a:xfrm>
        </p:spPr>
        <p:txBody>
          <a:bodyPr vert="horz" lIns="91440" tIns="45720" rIns="91440" bIns="45720" rtlCol="0" anchor="ctr">
            <a:normAutofit/>
          </a:bodyPr>
          <a:lstStyle/>
          <a:p>
            <a:pPr>
              <a:buFont typeface="Arial"/>
              <a:buChar char="•"/>
            </a:pPr>
            <a:r>
              <a:rPr lang="en-US" sz="1600">
                <a:ea typeface="+mn-lt"/>
                <a:cs typeface="+mn-lt"/>
              </a:rPr>
              <a:t>The model correctly predicted 948 non-stroke-risk patients.</a:t>
            </a:r>
            <a:endParaRPr lang="en-US" sz="1600"/>
          </a:p>
          <a:p>
            <a:pPr>
              <a:buFont typeface="Arial"/>
              <a:buChar char="•"/>
            </a:pPr>
            <a:r>
              <a:rPr lang="en-US" sz="1600">
                <a:ea typeface="+mn-lt"/>
                <a:cs typeface="+mn-lt"/>
              </a:rPr>
              <a:t>Only 6 out of 50 stroke-risk patients were correctly predicted.</a:t>
            </a:r>
            <a:endParaRPr lang="en-US" sz="1600"/>
          </a:p>
          <a:p>
            <a:pPr>
              <a:buFont typeface="Arial"/>
              <a:buChar char="•"/>
            </a:pPr>
            <a:r>
              <a:rPr lang="en-US" sz="1600">
                <a:ea typeface="+mn-lt"/>
                <a:cs typeface="+mn-lt"/>
              </a:rPr>
              <a:t>44 high-risk patients were missed.</a:t>
            </a:r>
            <a:endParaRPr lang="en-US" sz="1600"/>
          </a:p>
          <a:p>
            <a:pPr>
              <a:buFont typeface="Arial"/>
              <a:buChar char="•"/>
            </a:pPr>
            <a:r>
              <a:rPr lang="en-US" sz="1600" dirty="0">
                <a:ea typeface="+mn-lt"/>
                <a:cs typeface="+mn-lt"/>
              </a:rPr>
              <a:t>24 Patients predicted at risk but actually not</a:t>
            </a:r>
            <a:endParaRPr lang="en-US" sz="1600" dirty="0"/>
          </a:p>
          <a:p>
            <a:pPr marL="0" indent="0">
              <a:buNone/>
            </a:pPr>
            <a:endParaRPr lang="en-US" sz="1600"/>
          </a:p>
          <a:p>
            <a:pPr>
              <a:buNone/>
            </a:pPr>
            <a:r>
              <a:rPr lang="en-US" sz="1600" b="1"/>
              <a:t>Key Clinical Insight</a:t>
            </a:r>
          </a:p>
          <a:p>
            <a:pPr>
              <a:buNone/>
            </a:pPr>
            <a:r>
              <a:rPr lang="en-US" sz="1600" dirty="0">
                <a:ea typeface="+mn-lt"/>
                <a:cs typeface="+mn-lt"/>
              </a:rPr>
              <a:t>Although the </a:t>
            </a:r>
            <a:r>
              <a:rPr lang="en-US" sz="1600" b="1" dirty="0">
                <a:ea typeface="+mn-lt"/>
                <a:cs typeface="+mn-lt"/>
              </a:rPr>
              <a:t>accuracy is high (93.3%)</a:t>
            </a:r>
            <a:r>
              <a:rPr lang="en-US" sz="1600">
                <a:ea typeface="+mn-lt"/>
                <a:cs typeface="+mn-lt"/>
              </a:rPr>
              <a:t>, the</a:t>
            </a:r>
          </a:p>
          <a:p>
            <a:pPr>
              <a:buNone/>
            </a:pPr>
            <a:r>
              <a:rPr lang="en-US" sz="1600" b="1" dirty="0">
                <a:ea typeface="+mn-lt"/>
                <a:cs typeface="+mn-lt"/>
              </a:rPr>
              <a:t>sensitivity is very low (12%)</a:t>
            </a:r>
            <a:r>
              <a:rPr lang="en-US" sz="1600" dirty="0">
                <a:ea typeface="+mn-lt"/>
                <a:cs typeface="+mn-lt"/>
              </a:rPr>
              <a:t>, meaning the model</a:t>
            </a:r>
            <a:endParaRPr lang="en-US" dirty="0">
              <a:ea typeface="+mn-lt"/>
              <a:cs typeface="+mn-lt"/>
            </a:endParaRPr>
          </a:p>
          <a:p>
            <a:pPr>
              <a:buNone/>
            </a:pPr>
            <a:r>
              <a:rPr lang="en-US" sz="1600" dirty="0">
                <a:ea typeface="+mn-lt"/>
                <a:cs typeface="+mn-lt"/>
              </a:rPr>
              <a:t>fails to identify most stroke-risk individuals due to</a:t>
            </a:r>
            <a:endParaRPr lang="en-US" dirty="0">
              <a:ea typeface="+mn-lt"/>
              <a:cs typeface="+mn-lt"/>
            </a:endParaRPr>
          </a:p>
          <a:p>
            <a:pPr>
              <a:buNone/>
            </a:pPr>
            <a:r>
              <a:rPr lang="en-US" sz="1600">
                <a:ea typeface="+mn-lt"/>
                <a:cs typeface="+mn-lt"/>
              </a:rPr>
              <a:t>severely Imbalanced Dataset.</a:t>
            </a:r>
            <a:endParaRPr lang="en-US"/>
          </a:p>
          <a:p>
            <a:pPr>
              <a:buNone/>
            </a:pPr>
            <a:endParaRPr lang="en-US" sz="1600" dirty="0">
              <a:ea typeface="+mn-lt"/>
              <a:cs typeface="+mn-lt"/>
            </a:endParaRPr>
          </a:p>
          <a:p>
            <a:pPr>
              <a:buNone/>
            </a:pPr>
            <a:r>
              <a:rPr lang="en-US" sz="1600" dirty="0">
                <a:ea typeface="+mn-lt"/>
                <a:cs typeface="+mn-lt"/>
              </a:rPr>
              <a:t>In </a:t>
            </a:r>
            <a:r>
              <a:rPr lang="en-US" sz="1600" b="1" dirty="0">
                <a:ea typeface="+mn-lt"/>
                <a:cs typeface="+mn-lt"/>
              </a:rPr>
              <a:t>medical prediction systems</a:t>
            </a:r>
            <a:r>
              <a:rPr lang="en-US" sz="1600" dirty="0">
                <a:ea typeface="+mn-lt"/>
                <a:cs typeface="+mn-lt"/>
              </a:rPr>
              <a:t>, </a:t>
            </a:r>
            <a:r>
              <a:rPr lang="en-US" sz="1600" b="1">
                <a:ea typeface="+mn-lt"/>
                <a:cs typeface="+mn-lt"/>
              </a:rPr>
              <a:t>sensitivity is</a:t>
            </a:r>
          </a:p>
          <a:p>
            <a:pPr>
              <a:buNone/>
            </a:pPr>
            <a:r>
              <a:rPr lang="en-US" sz="1600" b="1" dirty="0">
                <a:ea typeface="+mn-lt"/>
                <a:cs typeface="+mn-lt"/>
              </a:rPr>
              <a:t>usually more important than accuracy</a:t>
            </a:r>
            <a:r>
              <a:rPr lang="en-US" sz="1600">
                <a:ea typeface="+mn-lt"/>
                <a:cs typeface="+mn-lt"/>
              </a:rPr>
              <a:t>, because</a:t>
            </a:r>
            <a:endParaRPr lang="en-US">
              <a:ea typeface="+mn-lt"/>
              <a:cs typeface="+mn-lt"/>
            </a:endParaRPr>
          </a:p>
          <a:p>
            <a:pPr>
              <a:buNone/>
            </a:pPr>
            <a:r>
              <a:rPr lang="en-US" sz="1600" dirty="0">
                <a:ea typeface="+mn-lt"/>
                <a:cs typeface="+mn-lt"/>
              </a:rPr>
              <a:t>missing high-risk patients may lead to </a:t>
            </a:r>
            <a:r>
              <a:rPr lang="en-US" sz="1600" b="1">
                <a:ea typeface="+mn-lt"/>
                <a:cs typeface="+mn-lt"/>
              </a:rPr>
              <a:t>preventable</a:t>
            </a:r>
            <a:endParaRPr lang="en-US" sz="1600" dirty="0">
              <a:ea typeface="+mn-lt"/>
              <a:cs typeface="+mn-lt"/>
            </a:endParaRPr>
          </a:p>
          <a:p>
            <a:pPr>
              <a:buNone/>
            </a:pPr>
            <a:r>
              <a:rPr lang="en-US" sz="1600" b="1">
                <a:ea typeface="+mn-lt"/>
                <a:cs typeface="+mn-lt"/>
              </a:rPr>
              <a:t>stroke events</a:t>
            </a:r>
            <a:r>
              <a:rPr lang="en-US" sz="1600" dirty="0">
                <a:ea typeface="+mn-lt"/>
                <a:cs typeface="+mn-lt"/>
              </a:rPr>
              <a:t>.</a:t>
            </a:r>
            <a:endParaRPr lang="en-US" sz="1600"/>
          </a:p>
          <a:p>
            <a:pPr marL="0" indent="0">
              <a:buNone/>
            </a:pPr>
            <a:endParaRPr lang="en-US" sz="1600" b="1"/>
          </a:p>
        </p:txBody>
      </p:sp>
    </p:spTree>
    <p:extLst>
      <p:ext uri="{BB962C8B-B14F-4D97-AF65-F5344CB8AC3E}">
        <p14:creationId xmlns:p14="http://schemas.microsoft.com/office/powerpoint/2010/main" val="14558059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4" name="Slide Background Fill">
            <a:extLst>
              <a:ext uri="{FF2B5EF4-FFF2-40B4-BE49-F238E27FC236}">
                <a16:creationId xmlns:a16="http://schemas.microsoft.com/office/drawing/2014/main" id="{C7D023E4-8DE1-436E-9847-ED6A4B4B04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1"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5" name="Color Cover">
            <a:extLst>
              <a:ext uri="{FF2B5EF4-FFF2-40B4-BE49-F238E27FC236}">
                <a16:creationId xmlns:a16="http://schemas.microsoft.com/office/drawing/2014/main" id="{8B2B1708-8CE4-4A20-94F5-55118AE2CB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1" y="0"/>
            <a:ext cx="121889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76" name="Group 75">
            <a:extLst>
              <a:ext uri="{FF2B5EF4-FFF2-40B4-BE49-F238E27FC236}">
                <a16:creationId xmlns:a16="http://schemas.microsoft.com/office/drawing/2014/main" id="{1F9866A9-B167-4D75-8F7F-360025AD6B4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7167"/>
            <a:ext cx="12188952" cy="3490956"/>
            <a:chOff x="651279" y="598259"/>
            <a:chExt cx="10889442" cy="5680742"/>
          </a:xfrm>
        </p:grpSpPr>
        <p:sp>
          <p:nvSpPr>
            <p:cNvPr id="63" name="Color">
              <a:extLst>
                <a:ext uri="{FF2B5EF4-FFF2-40B4-BE49-F238E27FC236}">
                  <a16:creationId xmlns:a16="http://schemas.microsoft.com/office/drawing/2014/main" id="{C2DD07C1-6CFB-48E5-AD0E-AC091042BB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4" name="Color">
              <a:extLst>
                <a:ext uri="{FF2B5EF4-FFF2-40B4-BE49-F238E27FC236}">
                  <a16:creationId xmlns:a16="http://schemas.microsoft.com/office/drawing/2014/main" id="{F9A8FC0F-BD29-4D9A-ABF1-D75E3A2691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77" name="Group 76">
            <a:extLst>
              <a:ext uri="{FF2B5EF4-FFF2-40B4-BE49-F238E27FC236}">
                <a16:creationId xmlns:a16="http://schemas.microsoft.com/office/drawing/2014/main" id="{E27AF472-EAE3-4572-AB69-B92BD10DBC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67" name="Freeform: Shape 66">
              <a:extLst>
                <a:ext uri="{FF2B5EF4-FFF2-40B4-BE49-F238E27FC236}">
                  <a16:creationId xmlns:a16="http://schemas.microsoft.com/office/drawing/2014/main" id="{BF4DB9D2-6215-420C-874C-82EADF8C6C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68" name="Freeform: Shape 67">
              <a:extLst>
                <a:ext uri="{FF2B5EF4-FFF2-40B4-BE49-F238E27FC236}">
                  <a16:creationId xmlns:a16="http://schemas.microsoft.com/office/drawing/2014/main" id="{1F003139-C97C-44FA-B139-32E4DFDCE9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69" name="Freeform: Shape 68">
              <a:extLst>
                <a:ext uri="{FF2B5EF4-FFF2-40B4-BE49-F238E27FC236}">
                  <a16:creationId xmlns:a16="http://schemas.microsoft.com/office/drawing/2014/main" id="{5CE4DD6E-8CEA-45EE-B630-DBC22144D8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70" name="Freeform: Shape 69">
              <a:extLst>
                <a:ext uri="{FF2B5EF4-FFF2-40B4-BE49-F238E27FC236}">
                  <a16:creationId xmlns:a16="http://schemas.microsoft.com/office/drawing/2014/main" id="{A4372F7F-AA3C-470B-AA61-7C35B7722C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71" name="Freeform: Shape 70">
              <a:extLst>
                <a:ext uri="{FF2B5EF4-FFF2-40B4-BE49-F238E27FC236}">
                  <a16:creationId xmlns:a16="http://schemas.microsoft.com/office/drawing/2014/main" id="{34B605BF-D199-43DD-9328-E99F2ADFC6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72" name="Freeform: Shape 71">
              <a:extLst>
                <a:ext uri="{FF2B5EF4-FFF2-40B4-BE49-F238E27FC236}">
                  <a16:creationId xmlns:a16="http://schemas.microsoft.com/office/drawing/2014/main" id="{E5D42A77-7336-4A35-8922-8098A16AA2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73" name="Freeform: Shape 72">
              <a:extLst>
                <a:ext uri="{FF2B5EF4-FFF2-40B4-BE49-F238E27FC236}">
                  <a16:creationId xmlns:a16="http://schemas.microsoft.com/office/drawing/2014/main" id="{7401EE7D-B85D-4C10-AB8C-71884EFB11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a:extLst>
              <a:ext uri="{FF2B5EF4-FFF2-40B4-BE49-F238E27FC236}">
                <a16:creationId xmlns:a16="http://schemas.microsoft.com/office/drawing/2014/main" id="{0045B36C-4684-6A9C-D211-49A7309FAB58}"/>
              </a:ext>
            </a:extLst>
          </p:cNvPr>
          <p:cNvSpPr>
            <a:spLocks noGrp="1"/>
          </p:cNvSpPr>
          <p:nvPr>
            <p:ph type="title"/>
          </p:nvPr>
        </p:nvSpPr>
        <p:spPr>
          <a:xfrm>
            <a:off x="642225" y="1014574"/>
            <a:ext cx="5227950" cy="2226769"/>
          </a:xfrm>
        </p:spPr>
        <p:txBody>
          <a:bodyPr vert="horz" lIns="91440" tIns="45720" rIns="91440" bIns="45720" rtlCol="0" anchor="ctr">
            <a:normAutofit/>
          </a:bodyPr>
          <a:lstStyle/>
          <a:p>
            <a:r>
              <a:rPr lang="en-US" sz="4800" kern="1200">
                <a:solidFill>
                  <a:schemeClr val="bg1"/>
                </a:solidFill>
                <a:latin typeface="+mj-lt"/>
                <a:ea typeface="+mj-ea"/>
                <a:cs typeface="+mj-cs"/>
              </a:rPr>
              <a:t>Clinical Evaluation of Stroke Risk Prediction Model</a:t>
            </a:r>
          </a:p>
        </p:txBody>
      </p:sp>
      <p:graphicFrame>
        <p:nvGraphicFramePr>
          <p:cNvPr id="5" name="Content Placeholder 4">
            <a:extLst>
              <a:ext uri="{FF2B5EF4-FFF2-40B4-BE49-F238E27FC236}">
                <a16:creationId xmlns:a16="http://schemas.microsoft.com/office/drawing/2014/main" id="{3D75913A-5799-8F01-1E71-02B179525384}"/>
              </a:ext>
            </a:extLst>
          </p:cNvPr>
          <p:cNvGraphicFramePr>
            <a:graphicFrameLocks noGrp="1"/>
          </p:cNvGraphicFramePr>
          <p:nvPr>
            <p:ph idx="1"/>
            <p:extLst>
              <p:ext uri="{D42A27DB-BD31-4B8C-83A1-F6EECF244321}">
                <p14:modId xmlns:p14="http://schemas.microsoft.com/office/powerpoint/2010/main" val="2310454747"/>
              </p:ext>
            </p:extLst>
          </p:nvPr>
        </p:nvGraphicFramePr>
        <p:xfrm>
          <a:off x="5715000" y="1401096"/>
          <a:ext cx="5833874" cy="4583976"/>
        </p:xfrm>
        <a:graphic>
          <a:graphicData uri="http://schemas.openxmlformats.org/drawingml/2006/table">
            <a:tbl>
              <a:tblPr firstRow="1" bandRow="1">
                <a:solidFill>
                  <a:schemeClr val="bg1">
                    <a:lumMod val="95000"/>
                  </a:schemeClr>
                </a:solidFill>
                <a:tableStyleId>{5C22544A-7EE6-4342-B048-85BDC9FD1C3A}</a:tableStyleId>
              </a:tblPr>
              <a:tblGrid>
                <a:gridCol w="1165256">
                  <a:extLst>
                    <a:ext uri="{9D8B030D-6E8A-4147-A177-3AD203B41FA5}">
                      <a16:colId xmlns:a16="http://schemas.microsoft.com/office/drawing/2014/main" val="897433002"/>
                    </a:ext>
                  </a:extLst>
                </a:gridCol>
                <a:gridCol w="1695875">
                  <a:extLst>
                    <a:ext uri="{9D8B030D-6E8A-4147-A177-3AD203B41FA5}">
                      <a16:colId xmlns:a16="http://schemas.microsoft.com/office/drawing/2014/main" val="532058648"/>
                    </a:ext>
                  </a:extLst>
                </a:gridCol>
                <a:gridCol w="949349">
                  <a:extLst>
                    <a:ext uri="{9D8B030D-6E8A-4147-A177-3AD203B41FA5}">
                      <a16:colId xmlns:a16="http://schemas.microsoft.com/office/drawing/2014/main" val="449740570"/>
                    </a:ext>
                  </a:extLst>
                </a:gridCol>
                <a:gridCol w="2023394">
                  <a:extLst>
                    <a:ext uri="{9D8B030D-6E8A-4147-A177-3AD203B41FA5}">
                      <a16:colId xmlns:a16="http://schemas.microsoft.com/office/drawing/2014/main" val="1388096599"/>
                    </a:ext>
                  </a:extLst>
                </a:gridCol>
              </a:tblGrid>
              <a:tr h="465239">
                <a:tc>
                  <a:txBody>
                    <a:bodyPr/>
                    <a:lstStyle/>
                    <a:p>
                      <a:pPr>
                        <a:buNone/>
                      </a:pPr>
                      <a:r>
                        <a:rPr lang="en-US" sz="1400" b="1" cap="none" spc="0">
                          <a:solidFill>
                            <a:schemeClr val="tx1"/>
                          </a:solidFill>
                        </a:rPr>
                        <a:t>Metric</a:t>
                      </a:r>
                    </a:p>
                  </a:txBody>
                  <a:tcPr marL="59818" marR="86537" marT="17091" marB="128180" anchor="b">
                    <a:lnL w="12700" cmpd="sng">
                      <a:noFill/>
                    </a:lnL>
                    <a:lnR w="12700" cmpd="sng">
                      <a:noFill/>
                    </a:lnR>
                    <a:lnT w="9525" cap="flat" cmpd="sng" algn="ctr">
                      <a:noFill/>
                      <a:prstDash val="solid"/>
                    </a:lnT>
                    <a:lnB w="38100" cmpd="sng">
                      <a:noFill/>
                    </a:lnB>
                    <a:solidFill>
                      <a:schemeClr val="bg1">
                        <a:lumMod val="95000"/>
                      </a:schemeClr>
                    </a:solidFill>
                  </a:tcPr>
                </a:tc>
                <a:tc>
                  <a:txBody>
                    <a:bodyPr/>
                    <a:lstStyle/>
                    <a:p>
                      <a:pPr>
                        <a:buNone/>
                      </a:pPr>
                      <a:r>
                        <a:rPr lang="en-US" sz="1400" b="1" cap="none" spc="0">
                          <a:solidFill>
                            <a:schemeClr val="tx1"/>
                          </a:solidFill>
                        </a:rPr>
                        <a:t>Formula</a:t>
                      </a:r>
                    </a:p>
                  </a:txBody>
                  <a:tcPr marL="59818" marR="86537" marT="17091" marB="128180" anchor="b">
                    <a:lnL w="12700" cmpd="sng">
                      <a:noFill/>
                    </a:lnL>
                    <a:lnR w="12700" cmpd="sng">
                      <a:noFill/>
                    </a:lnR>
                    <a:lnT w="9525" cap="flat" cmpd="sng" algn="ctr">
                      <a:noFill/>
                      <a:prstDash val="solid"/>
                    </a:lnT>
                    <a:lnB w="38100" cmpd="sng">
                      <a:noFill/>
                    </a:lnB>
                    <a:solidFill>
                      <a:schemeClr val="bg1">
                        <a:lumMod val="95000"/>
                      </a:schemeClr>
                    </a:solidFill>
                  </a:tcPr>
                </a:tc>
                <a:tc>
                  <a:txBody>
                    <a:bodyPr/>
                    <a:lstStyle/>
                    <a:p>
                      <a:pPr>
                        <a:buNone/>
                      </a:pPr>
                      <a:r>
                        <a:rPr lang="en-US" sz="1400" b="1" cap="none" spc="0">
                          <a:solidFill>
                            <a:schemeClr val="tx1"/>
                          </a:solidFill>
                        </a:rPr>
                        <a:t>Value</a:t>
                      </a:r>
                    </a:p>
                  </a:txBody>
                  <a:tcPr marL="59818" marR="86537" marT="17091" marB="128180" anchor="b">
                    <a:lnL w="12700" cmpd="sng">
                      <a:noFill/>
                    </a:lnL>
                    <a:lnR w="12700" cmpd="sng">
                      <a:noFill/>
                    </a:lnR>
                    <a:lnT w="9525" cap="flat" cmpd="sng" algn="ctr">
                      <a:noFill/>
                      <a:prstDash val="solid"/>
                    </a:lnT>
                    <a:lnB w="38100" cmpd="sng">
                      <a:noFill/>
                    </a:lnB>
                    <a:solidFill>
                      <a:schemeClr val="bg1">
                        <a:lumMod val="95000"/>
                      </a:schemeClr>
                    </a:solidFill>
                  </a:tcPr>
                </a:tc>
                <a:tc>
                  <a:txBody>
                    <a:bodyPr/>
                    <a:lstStyle/>
                    <a:p>
                      <a:pPr>
                        <a:buNone/>
                      </a:pPr>
                      <a:r>
                        <a:rPr lang="en-US" sz="1400" b="1" cap="none" spc="0">
                          <a:solidFill>
                            <a:schemeClr val="tx1"/>
                          </a:solidFill>
                        </a:rPr>
                        <a:t>Interpretation</a:t>
                      </a:r>
                    </a:p>
                  </a:txBody>
                  <a:tcPr marL="59818" marR="86537" marT="17091" marB="128180" anchor="b">
                    <a:lnL w="12700" cmpd="sng">
                      <a:noFill/>
                    </a:lnL>
                    <a:lnR w="12700" cmpd="sng">
                      <a:noFill/>
                    </a:lnR>
                    <a:lnT w="9525" cap="flat" cmpd="sng" algn="ctr">
                      <a:noFill/>
                      <a:prstDash val="solid"/>
                    </a:lnT>
                    <a:lnB w="38100" cmpd="sng">
                      <a:noFill/>
                    </a:lnB>
                    <a:solidFill>
                      <a:schemeClr val="bg1">
                        <a:lumMod val="95000"/>
                      </a:schemeClr>
                    </a:solidFill>
                  </a:tcPr>
                </a:tc>
                <a:extLst>
                  <a:ext uri="{0D108BD9-81ED-4DB2-BD59-A6C34878D82A}">
                    <a16:rowId xmlns:a16="http://schemas.microsoft.com/office/drawing/2014/main" val="3833419340"/>
                  </a:ext>
                </a:extLst>
              </a:tr>
              <a:tr h="588391">
                <a:tc>
                  <a:txBody>
                    <a:bodyPr/>
                    <a:lstStyle/>
                    <a:p>
                      <a:pPr>
                        <a:buNone/>
                      </a:pPr>
                      <a:r>
                        <a:rPr lang="en-US" sz="1400" cap="none" spc="0">
                          <a:solidFill>
                            <a:schemeClr val="tx1"/>
                          </a:solidFill>
                        </a:rPr>
                        <a:t>Accuracy</a:t>
                      </a:r>
                    </a:p>
                  </a:txBody>
                  <a:tcPr marL="59818" marR="86537" marT="17091" marB="128180" anchor="ctr">
                    <a:lnL w="12700" cap="flat" cmpd="sng" algn="ctr">
                      <a:solidFill>
                        <a:schemeClr val="tx1"/>
                      </a:solidFill>
                      <a:prstDash val="solid"/>
                    </a:lnL>
                    <a:lnR w="12700" cmpd="sng">
                      <a:noFill/>
                      <a:prstDash val="solid"/>
                    </a:lnR>
                    <a:lnT w="38100" cmpd="sng">
                      <a:noFill/>
                    </a:lnT>
                    <a:lnB w="9525" cap="flat" cmpd="sng" algn="ctr">
                      <a:noFill/>
                      <a:prstDash val="solid"/>
                    </a:lnB>
                    <a:solidFill>
                      <a:schemeClr val="bg1">
                        <a:lumMod val="95000"/>
                      </a:schemeClr>
                    </a:solidFill>
                  </a:tcPr>
                </a:tc>
                <a:tc>
                  <a:txBody>
                    <a:bodyPr/>
                    <a:lstStyle/>
                    <a:p>
                      <a:pPr>
                        <a:buNone/>
                      </a:pPr>
                      <a:r>
                        <a:rPr lang="en-US" sz="1400" cap="none" spc="0">
                          <a:solidFill>
                            <a:schemeClr val="tx1"/>
                          </a:solidFill>
                        </a:rPr>
                        <a:t>(TP + TN) / Total</a:t>
                      </a:r>
                    </a:p>
                  </a:txBody>
                  <a:tcPr marL="59818" marR="86537" marT="17091" marB="128180" anchor="ctr">
                    <a:lnL w="12700" cmpd="sng">
                      <a:noFill/>
                      <a:prstDash val="solid"/>
                    </a:lnL>
                    <a:lnR w="12700" cmpd="sng">
                      <a:noFill/>
                      <a:prstDash val="solid"/>
                    </a:lnR>
                    <a:lnT w="38100" cmpd="sng">
                      <a:noFill/>
                    </a:lnT>
                    <a:lnB w="9525" cap="flat" cmpd="sng" algn="ctr">
                      <a:noFill/>
                      <a:prstDash val="solid"/>
                    </a:lnB>
                    <a:solidFill>
                      <a:schemeClr val="bg1">
                        <a:lumMod val="95000"/>
                      </a:schemeClr>
                    </a:solidFill>
                  </a:tcPr>
                </a:tc>
                <a:tc>
                  <a:txBody>
                    <a:bodyPr/>
                    <a:lstStyle/>
                    <a:p>
                      <a:pPr>
                        <a:buNone/>
                      </a:pPr>
                      <a:r>
                        <a:rPr lang="en-US" sz="1400" cap="none" spc="0">
                          <a:solidFill>
                            <a:schemeClr val="tx1"/>
                          </a:solidFill>
                        </a:rPr>
                        <a:t>0.90</a:t>
                      </a:r>
                    </a:p>
                  </a:txBody>
                  <a:tcPr marL="59818" marR="86537" marT="17091" marB="128180" anchor="ctr">
                    <a:lnL w="12700" cmpd="sng">
                      <a:noFill/>
                      <a:prstDash val="solid"/>
                    </a:lnL>
                    <a:lnR w="12700" cmpd="sng">
                      <a:noFill/>
                      <a:prstDash val="solid"/>
                    </a:lnR>
                    <a:lnT w="38100" cmpd="sng">
                      <a:noFill/>
                    </a:lnT>
                    <a:lnB w="9525" cap="flat" cmpd="sng" algn="ctr">
                      <a:noFill/>
                      <a:prstDash val="solid"/>
                    </a:lnB>
                    <a:solidFill>
                      <a:schemeClr val="bg1">
                        <a:lumMod val="95000"/>
                      </a:schemeClr>
                    </a:solidFill>
                  </a:tcPr>
                </a:tc>
                <a:tc>
                  <a:txBody>
                    <a:bodyPr/>
                    <a:lstStyle/>
                    <a:p>
                      <a:pPr>
                        <a:buNone/>
                      </a:pPr>
                      <a:r>
                        <a:rPr lang="en-US" sz="1400" cap="none" spc="0">
                          <a:solidFill>
                            <a:schemeClr val="tx1"/>
                          </a:solidFill>
                        </a:rPr>
                        <a:t>Correctly classifies most patients</a:t>
                      </a:r>
                    </a:p>
                  </a:txBody>
                  <a:tcPr marL="59818" marR="86537" marT="17091" marB="128180" anchor="ctr">
                    <a:lnL w="12700" cmpd="sng">
                      <a:noFill/>
                      <a:prstDash val="solid"/>
                    </a:lnL>
                    <a:lnR w="12700" cmpd="sng">
                      <a:noFill/>
                      <a:prstDash val="solid"/>
                    </a:lnR>
                    <a:lnT w="38100" cmpd="sng">
                      <a:noFill/>
                    </a:lnT>
                    <a:lnB w="9525" cap="flat" cmpd="sng" algn="ctr">
                      <a:noFill/>
                      <a:prstDash val="solid"/>
                    </a:lnB>
                    <a:solidFill>
                      <a:schemeClr val="bg1">
                        <a:lumMod val="95000"/>
                      </a:schemeClr>
                    </a:solidFill>
                  </a:tcPr>
                </a:tc>
                <a:extLst>
                  <a:ext uri="{0D108BD9-81ED-4DB2-BD59-A6C34878D82A}">
                    <a16:rowId xmlns:a16="http://schemas.microsoft.com/office/drawing/2014/main" val="2820343918"/>
                  </a:ext>
                </a:extLst>
              </a:tr>
              <a:tr h="588391">
                <a:tc>
                  <a:txBody>
                    <a:bodyPr/>
                    <a:lstStyle/>
                    <a:p>
                      <a:pPr>
                        <a:buNone/>
                      </a:pPr>
                      <a:r>
                        <a:rPr lang="en-US" sz="1400" cap="none" spc="0">
                          <a:solidFill>
                            <a:schemeClr val="tx1"/>
                          </a:solidFill>
                        </a:rPr>
                        <a:t>Sensitivity</a:t>
                      </a:r>
                    </a:p>
                  </a:txBody>
                  <a:tcPr marL="59818" marR="86537" marT="17091" marB="128180" anchor="ctr">
                    <a:lnL w="12700" cap="flat" cmpd="sng" algn="ctr">
                      <a:solidFill>
                        <a:schemeClr val="tx1"/>
                      </a:solidFill>
                      <a:prstDash val="solid"/>
                    </a:lnL>
                    <a:lnR w="12700" cmpd="sng">
                      <a:noFill/>
                      <a:prstDash val="solid"/>
                    </a:lnR>
                    <a:lnT w="9525" cap="flat" cmpd="sng" algn="ctr">
                      <a:noFill/>
                      <a:prstDash val="solid"/>
                    </a:lnT>
                    <a:lnB w="12700" cmpd="sng">
                      <a:noFill/>
                      <a:prstDash val="solid"/>
                    </a:lnB>
                    <a:solidFill>
                      <a:schemeClr val="bg1">
                        <a:lumMod val="85000"/>
                      </a:schemeClr>
                    </a:solidFill>
                  </a:tcPr>
                </a:tc>
                <a:tc>
                  <a:txBody>
                    <a:bodyPr/>
                    <a:lstStyle/>
                    <a:p>
                      <a:pPr>
                        <a:buNone/>
                      </a:pPr>
                      <a:r>
                        <a:rPr lang="en-US" sz="1400" cap="none" spc="0">
                          <a:solidFill>
                            <a:schemeClr val="tx1"/>
                          </a:solidFill>
                        </a:rPr>
                        <a:t>TP / (TP + FN)</a:t>
                      </a:r>
                    </a:p>
                  </a:txBody>
                  <a:tcPr marL="59818" marR="86537" marT="17091" marB="128180" anchor="ctr">
                    <a:lnL w="12700" cmpd="sng">
                      <a:noFill/>
                      <a:prstDash val="solid"/>
                    </a:lnL>
                    <a:lnR w="12700" cmpd="sng">
                      <a:noFill/>
                      <a:prstDash val="solid"/>
                    </a:lnR>
                    <a:lnT w="9525" cap="flat" cmpd="sng" algn="ctr">
                      <a:noFill/>
                      <a:prstDash val="solid"/>
                    </a:lnT>
                    <a:lnB w="12700" cmpd="sng">
                      <a:noFill/>
                      <a:prstDash val="solid"/>
                    </a:lnB>
                    <a:solidFill>
                      <a:schemeClr val="bg1">
                        <a:lumMod val="85000"/>
                      </a:schemeClr>
                    </a:solidFill>
                  </a:tcPr>
                </a:tc>
                <a:tc>
                  <a:txBody>
                    <a:bodyPr/>
                    <a:lstStyle/>
                    <a:p>
                      <a:pPr>
                        <a:buNone/>
                      </a:pPr>
                      <a:r>
                        <a:rPr lang="en-US" sz="1400" cap="none" spc="0">
                          <a:solidFill>
                            <a:schemeClr val="tx1"/>
                          </a:solidFill>
                        </a:rPr>
                        <a:t>0.32</a:t>
                      </a:r>
                    </a:p>
                  </a:txBody>
                  <a:tcPr marL="59818" marR="86537" marT="17091" marB="128180" anchor="ctr">
                    <a:lnL w="12700" cmpd="sng">
                      <a:noFill/>
                      <a:prstDash val="solid"/>
                    </a:lnL>
                    <a:lnR w="12700" cmpd="sng">
                      <a:noFill/>
                      <a:prstDash val="solid"/>
                    </a:lnR>
                    <a:lnT w="9525" cap="flat" cmpd="sng" algn="ctr">
                      <a:noFill/>
                      <a:prstDash val="solid"/>
                    </a:lnT>
                    <a:lnB w="12700" cmpd="sng">
                      <a:noFill/>
                      <a:prstDash val="solid"/>
                    </a:lnB>
                    <a:solidFill>
                      <a:schemeClr val="bg1">
                        <a:lumMod val="85000"/>
                      </a:schemeClr>
                    </a:solidFill>
                  </a:tcPr>
                </a:tc>
                <a:tc>
                  <a:txBody>
                    <a:bodyPr/>
                    <a:lstStyle/>
                    <a:p>
                      <a:pPr>
                        <a:buNone/>
                      </a:pPr>
                      <a:r>
                        <a:rPr lang="en-US" sz="1400" cap="none" spc="0">
                          <a:solidFill>
                            <a:schemeClr val="tx1"/>
                          </a:solidFill>
                        </a:rPr>
                        <a:t>Many stroke-risk patients missed</a:t>
                      </a:r>
                    </a:p>
                  </a:txBody>
                  <a:tcPr marL="59818" marR="86537" marT="17091" marB="128180" anchor="ctr">
                    <a:lnL w="12700" cmpd="sng">
                      <a:noFill/>
                      <a:prstDash val="solid"/>
                    </a:lnL>
                    <a:lnR w="12700" cmpd="sng">
                      <a:noFill/>
                      <a:prstDash val="solid"/>
                    </a:lnR>
                    <a:lnT w="9525" cap="flat" cmpd="sng" algn="ctr">
                      <a:noFill/>
                      <a:prstDash val="solid"/>
                    </a:lnT>
                    <a:lnB w="12700" cmpd="sng">
                      <a:noFill/>
                      <a:prstDash val="solid"/>
                    </a:lnB>
                    <a:solidFill>
                      <a:schemeClr val="bg1">
                        <a:lumMod val="85000"/>
                      </a:schemeClr>
                    </a:solidFill>
                  </a:tcPr>
                </a:tc>
                <a:extLst>
                  <a:ext uri="{0D108BD9-81ED-4DB2-BD59-A6C34878D82A}">
                    <a16:rowId xmlns:a16="http://schemas.microsoft.com/office/drawing/2014/main" val="2706312077"/>
                  </a:ext>
                </a:extLst>
              </a:tr>
              <a:tr h="588391">
                <a:tc>
                  <a:txBody>
                    <a:bodyPr/>
                    <a:lstStyle/>
                    <a:p>
                      <a:pPr>
                        <a:buNone/>
                      </a:pPr>
                      <a:r>
                        <a:rPr lang="en-US" sz="1400" cap="none" spc="0">
                          <a:solidFill>
                            <a:schemeClr val="tx1"/>
                          </a:solidFill>
                        </a:rPr>
                        <a:t>Specificity</a:t>
                      </a:r>
                    </a:p>
                  </a:txBody>
                  <a:tcPr marL="59818" marR="86537" marT="17091" marB="128180" anchor="ctr">
                    <a:lnL w="12700" cap="flat" cmpd="sng" algn="ctr">
                      <a:solidFill>
                        <a:schemeClr val="tx1"/>
                      </a:solidFill>
                      <a:prstDash val="solid"/>
                    </a:lnL>
                    <a:lnR w="12700" cmpd="sng">
                      <a:noFill/>
                      <a:prstDash val="solid"/>
                    </a:lnR>
                    <a:lnT w="12700" cmpd="sng">
                      <a:noFill/>
                      <a:prstDash val="solid"/>
                    </a:lnT>
                    <a:lnB w="9525" cap="flat" cmpd="sng" algn="ctr">
                      <a:noFill/>
                      <a:prstDash val="solid"/>
                    </a:lnB>
                    <a:solidFill>
                      <a:schemeClr val="bg1">
                        <a:lumMod val="95000"/>
                      </a:schemeClr>
                    </a:solidFill>
                  </a:tcPr>
                </a:tc>
                <a:tc>
                  <a:txBody>
                    <a:bodyPr/>
                    <a:lstStyle/>
                    <a:p>
                      <a:pPr>
                        <a:buNone/>
                      </a:pPr>
                      <a:r>
                        <a:rPr lang="en-US" sz="1400" cap="none" spc="0">
                          <a:solidFill>
                            <a:schemeClr val="tx1"/>
                          </a:solidFill>
                        </a:rPr>
                        <a:t>TN / (TN + FP)</a:t>
                      </a:r>
                    </a:p>
                  </a:txBody>
                  <a:tcPr marL="59818" marR="86537" marT="17091" marB="128180" anchor="ctr">
                    <a:lnL w="12700" cmpd="sng">
                      <a:noFill/>
                      <a:prstDash val="solid"/>
                    </a:lnL>
                    <a:lnR w="12700" cmpd="sng">
                      <a:noFill/>
                      <a:prstDash val="solid"/>
                    </a:lnR>
                    <a:lnT w="12700" cmpd="sng">
                      <a:noFill/>
                      <a:prstDash val="solid"/>
                    </a:lnT>
                    <a:lnB w="9525" cap="flat" cmpd="sng" algn="ctr">
                      <a:noFill/>
                      <a:prstDash val="solid"/>
                    </a:lnB>
                    <a:solidFill>
                      <a:schemeClr val="bg1">
                        <a:lumMod val="95000"/>
                      </a:schemeClr>
                    </a:solidFill>
                  </a:tcPr>
                </a:tc>
                <a:tc>
                  <a:txBody>
                    <a:bodyPr/>
                    <a:lstStyle/>
                    <a:p>
                      <a:pPr>
                        <a:buNone/>
                      </a:pPr>
                      <a:r>
                        <a:rPr lang="en-US" sz="1400" cap="none" spc="0">
                          <a:solidFill>
                            <a:schemeClr val="tx1"/>
                          </a:solidFill>
                        </a:rPr>
                        <a:t>0.975</a:t>
                      </a:r>
                    </a:p>
                  </a:txBody>
                  <a:tcPr marL="59818" marR="86537" marT="17091" marB="128180" anchor="ctr">
                    <a:lnL w="12700" cmpd="sng">
                      <a:noFill/>
                      <a:prstDash val="solid"/>
                    </a:lnL>
                    <a:lnR w="12700" cmpd="sng">
                      <a:noFill/>
                      <a:prstDash val="solid"/>
                    </a:lnR>
                    <a:lnT w="12700" cmpd="sng">
                      <a:noFill/>
                      <a:prstDash val="solid"/>
                    </a:lnT>
                    <a:lnB w="9525" cap="flat" cmpd="sng" algn="ctr">
                      <a:noFill/>
                      <a:prstDash val="solid"/>
                    </a:lnB>
                    <a:solidFill>
                      <a:schemeClr val="bg1">
                        <a:lumMod val="95000"/>
                      </a:schemeClr>
                    </a:solidFill>
                  </a:tcPr>
                </a:tc>
                <a:tc>
                  <a:txBody>
                    <a:bodyPr/>
                    <a:lstStyle/>
                    <a:p>
                      <a:pPr>
                        <a:buNone/>
                      </a:pPr>
                      <a:r>
                        <a:rPr lang="en-US" sz="1400" cap="none" spc="0">
                          <a:solidFill>
                            <a:schemeClr val="tx1"/>
                          </a:solidFill>
                        </a:rPr>
                        <a:t>Identifies non-stroke patients well</a:t>
                      </a:r>
                    </a:p>
                  </a:txBody>
                  <a:tcPr marL="59818" marR="86537" marT="17091" marB="128180" anchor="ctr">
                    <a:lnL w="12700" cmpd="sng">
                      <a:noFill/>
                      <a:prstDash val="solid"/>
                    </a:lnL>
                    <a:lnR w="12700" cmpd="sng">
                      <a:noFill/>
                      <a:prstDash val="solid"/>
                    </a:lnR>
                    <a:lnT w="12700" cmpd="sng">
                      <a:noFill/>
                      <a:prstDash val="solid"/>
                    </a:lnT>
                    <a:lnB w="9525" cap="flat" cmpd="sng" algn="ctr">
                      <a:noFill/>
                      <a:prstDash val="solid"/>
                    </a:lnB>
                    <a:solidFill>
                      <a:schemeClr val="bg1">
                        <a:lumMod val="95000"/>
                      </a:schemeClr>
                    </a:solidFill>
                  </a:tcPr>
                </a:tc>
                <a:extLst>
                  <a:ext uri="{0D108BD9-81ED-4DB2-BD59-A6C34878D82A}">
                    <a16:rowId xmlns:a16="http://schemas.microsoft.com/office/drawing/2014/main" val="4010052727"/>
                  </a:ext>
                </a:extLst>
              </a:tr>
              <a:tr h="588391">
                <a:tc>
                  <a:txBody>
                    <a:bodyPr/>
                    <a:lstStyle/>
                    <a:p>
                      <a:pPr>
                        <a:buNone/>
                      </a:pPr>
                      <a:r>
                        <a:rPr lang="en-US" sz="1400" cap="none" spc="0">
                          <a:solidFill>
                            <a:schemeClr val="tx1"/>
                          </a:solidFill>
                        </a:rPr>
                        <a:t>Precision</a:t>
                      </a:r>
                    </a:p>
                  </a:txBody>
                  <a:tcPr marL="59818" marR="86537" marT="17091" marB="128180" anchor="ctr">
                    <a:lnL w="12700" cap="flat" cmpd="sng" algn="ctr">
                      <a:solidFill>
                        <a:schemeClr val="tx1"/>
                      </a:solidFill>
                      <a:prstDash val="solid"/>
                    </a:lnL>
                    <a:lnR w="12700" cmpd="sng">
                      <a:noFill/>
                      <a:prstDash val="solid"/>
                    </a:lnR>
                    <a:lnT w="9525" cap="flat" cmpd="sng" algn="ctr">
                      <a:noFill/>
                      <a:prstDash val="solid"/>
                    </a:lnT>
                    <a:lnB w="12700" cmpd="sng">
                      <a:noFill/>
                      <a:prstDash val="solid"/>
                    </a:lnB>
                    <a:solidFill>
                      <a:schemeClr val="bg1">
                        <a:lumMod val="85000"/>
                      </a:schemeClr>
                    </a:solidFill>
                  </a:tcPr>
                </a:tc>
                <a:tc>
                  <a:txBody>
                    <a:bodyPr/>
                    <a:lstStyle/>
                    <a:p>
                      <a:pPr>
                        <a:buNone/>
                      </a:pPr>
                      <a:r>
                        <a:rPr lang="en-US" sz="1400" cap="none" spc="0">
                          <a:solidFill>
                            <a:schemeClr val="tx1"/>
                          </a:solidFill>
                        </a:rPr>
                        <a:t>TP / (TP + FP)</a:t>
                      </a:r>
                    </a:p>
                  </a:txBody>
                  <a:tcPr marL="59818" marR="86537" marT="17091" marB="128180" anchor="ctr">
                    <a:lnL w="12700" cmpd="sng">
                      <a:noFill/>
                      <a:prstDash val="solid"/>
                    </a:lnL>
                    <a:lnR w="12700" cmpd="sng">
                      <a:noFill/>
                      <a:prstDash val="solid"/>
                    </a:lnR>
                    <a:lnT w="9525" cap="flat" cmpd="sng" algn="ctr">
                      <a:noFill/>
                      <a:prstDash val="solid"/>
                    </a:lnT>
                    <a:lnB w="12700" cmpd="sng">
                      <a:noFill/>
                      <a:prstDash val="solid"/>
                    </a:lnB>
                    <a:solidFill>
                      <a:schemeClr val="bg1">
                        <a:lumMod val="85000"/>
                      </a:schemeClr>
                    </a:solidFill>
                  </a:tcPr>
                </a:tc>
                <a:tc>
                  <a:txBody>
                    <a:bodyPr/>
                    <a:lstStyle/>
                    <a:p>
                      <a:pPr>
                        <a:buNone/>
                      </a:pPr>
                      <a:r>
                        <a:rPr lang="en-US" sz="1400" cap="none" spc="0">
                          <a:solidFill>
                            <a:schemeClr val="tx1"/>
                          </a:solidFill>
                        </a:rPr>
                        <a:t>0.20</a:t>
                      </a:r>
                    </a:p>
                  </a:txBody>
                  <a:tcPr marL="59818" marR="86537" marT="17091" marB="128180" anchor="ctr">
                    <a:lnL w="12700" cmpd="sng">
                      <a:noFill/>
                      <a:prstDash val="solid"/>
                    </a:lnL>
                    <a:lnR w="12700" cmpd="sng">
                      <a:noFill/>
                      <a:prstDash val="solid"/>
                    </a:lnR>
                    <a:lnT w="9525" cap="flat" cmpd="sng" algn="ctr">
                      <a:noFill/>
                      <a:prstDash val="solid"/>
                    </a:lnT>
                    <a:lnB w="12700" cmpd="sng">
                      <a:noFill/>
                      <a:prstDash val="solid"/>
                    </a:lnB>
                    <a:solidFill>
                      <a:schemeClr val="bg1">
                        <a:lumMod val="85000"/>
                      </a:schemeClr>
                    </a:solidFill>
                  </a:tcPr>
                </a:tc>
                <a:tc>
                  <a:txBody>
                    <a:bodyPr/>
                    <a:lstStyle/>
                    <a:p>
                      <a:pPr>
                        <a:buNone/>
                      </a:pPr>
                      <a:r>
                        <a:rPr lang="en-US" sz="1400" cap="none" spc="0">
                          <a:solidFill>
                            <a:schemeClr val="tx1"/>
                          </a:solidFill>
                        </a:rPr>
                        <a:t>Few predicted strokes are correct</a:t>
                      </a:r>
                    </a:p>
                  </a:txBody>
                  <a:tcPr marL="59818" marR="86537" marT="17091" marB="128180" anchor="ctr">
                    <a:lnL w="12700" cmpd="sng">
                      <a:noFill/>
                      <a:prstDash val="solid"/>
                    </a:lnL>
                    <a:lnR w="12700" cmpd="sng">
                      <a:noFill/>
                      <a:prstDash val="solid"/>
                    </a:lnR>
                    <a:lnT w="9525" cap="flat" cmpd="sng" algn="ctr">
                      <a:noFill/>
                      <a:prstDash val="solid"/>
                    </a:lnT>
                    <a:lnB w="12700" cmpd="sng">
                      <a:noFill/>
                      <a:prstDash val="solid"/>
                    </a:lnB>
                    <a:solidFill>
                      <a:schemeClr val="bg1">
                        <a:lumMod val="85000"/>
                      </a:schemeClr>
                    </a:solidFill>
                  </a:tcPr>
                </a:tc>
                <a:extLst>
                  <a:ext uri="{0D108BD9-81ED-4DB2-BD59-A6C34878D82A}">
                    <a16:rowId xmlns:a16="http://schemas.microsoft.com/office/drawing/2014/main" val="1491545756"/>
                  </a:ext>
                </a:extLst>
              </a:tr>
              <a:tr h="588391">
                <a:tc>
                  <a:txBody>
                    <a:bodyPr/>
                    <a:lstStyle/>
                    <a:p>
                      <a:pPr>
                        <a:buNone/>
                      </a:pPr>
                      <a:r>
                        <a:rPr lang="en-US" sz="1400" cap="none" spc="0">
                          <a:solidFill>
                            <a:schemeClr val="tx1"/>
                          </a:solidFill>
                        </a:rPr>
                        <a:t>NPV</a:t>
                      </a:r>
                    </a:p>
                  </a:txBody>
                  <a:tcPr marL="59818" marR="86537" marT="17091" marB="128180" anchor="ctr">
                    <a:lnL w="12700" cap="flat" cmpd="sng" algn="ctr">
                      <a:solidFill>
                        <a:schemeClr val="tx1"/>
                      </a:solidFill>
                      <a:prstDash val="solid"/>
                    </a:lnL>
                    <a:lnR w="12700" cmpd="sng">
                      <a:noFill/>
                      <a:prstDash val="solid"/>
                    </a:lnR>
                    <a:lnT w="12700" cmpd="sng">
                      <a:noFill/>
                      <a:prstDash val="solid"/>
                    </a:lnT>
                    <a:lnB w="9525" cap="flat" cmpd="sng" algn="ctr">
                      <a:noFill/>
                      <a:prstDash val="solid"/>
                    </a:lnB>
                    <a:solidFill>
                      <a:schemeClr val="bg1">
                        <a:lumMod val="95000"/>
                      </a:schemeClr>
                    </a:solidFill>
                  </a:tcPr>
                </a:tc>
                <a:tc>
                  <a:txBody>
                    <a:bodyPr/>
                    <a:lstStyle/>
                    <a:p>
                      <a:pPr>
                        <a:buNone/>
                      </a:pPr>
                      <a:r>
                        <a:rPr lang="en-US" sz="1400" cap="none" spc="0">
                          <a:solidFill>
                            <a:schemeClr val="tx1"/>
                          </a:solidFill>
                        </a:rPr>
                        <a:t>TN / (TN + FN)</a:t>
                      </a:r>
                    </a:p>
                  </a:txBody>
                  <a:tcPr marL="59818" marR="86537" marT="17091" marB="128180" anchor="ctr">
                    <a:lnL w="12700" cmpd="sng">
                      <a:noFill/>
                      <a:prstDash val="solid"/>
                    </a:lnL>
                    <a:lnR w="12700" cmpd="sng">
                      <a:noFill/>
                      <a:prstDash val="solid"/>
                    </a:lnR>
                    <a:lnT w="12700" cmpd="sng">
                      <a:noFill/>
                      <a:prstDash val="solid"/>
                    </a:lnT>
                    <a:lnB w="9525" cap="flat" cmpd="sng" algn="ctr">
                      <a:noFill/>
                      <a:prstDash val="solid"/>
                    </a:lnB>
                    <a:solidFill>
                      <a:schemeClr val="bg1">
                        <a:lumMod val="95000"/>
                      </a:schemeClr>
                    </a:solidFill>
                  </a:tcPr>
                </a:tc>
                <a:tc>
                  <a:txBody>
                    <a:bodyPr/>
                    <a:lstStyle/>
                    <a:p>
                      <a:pPr>
                        <a:buNone/>
                      </a:pPr>
                      <a:r>
                        <a:rPr lang="en-US" sz="1400" cap="none" spc="0">
                          <a:solidFill>
                            <a:schemeClr val="tx1"/>
                          </a:solidFill>
                        </a:rPr>
                        <a:t>0.96</a:t>
                      </a:r>
                    </a:p>
                  </a:txBody>
                  <a:tcPr marL="59818" marR="86537" marT="17091" marB="128180" anchor="ctr">
                    <a:lnL w="12700" cmpd="sng">
                      <a:noFill/>
                      <a:prstDash val="solid"/>
                    </a:lnL>
                    <a:lnR w="12700" cmpd="sng">
                      <a:noFill/>
                      <a:prstDash val="solid"/>
                    </a:lnR>
                    <a:lnT w="12700" cmpd="sng">
                      <a:noFill/>
                      <a:prstDash val="solid"/>
                    </a:lnT>
                    <a:lnB w="9525" cap="flat" cmpd="sng" algn="ctr">
                      <a:noFill/>
                      <a:prstDash val="solid"/>
                    </a:lnB>
                    <a:solidFill>
                      <a:schemeClr val="bg1">
                        <a:lumMod val="95000"/>
                      </a:schemeClr>
                    </a:solidFill>
                  </a:tcPr>
                </a:tc>
                <a:tc>
                  <a:txBody>
                    <a:bodyPr/>
                    <a:lstStyle/>
                    <a:p>
                      <a:pPr>
                        <a:buNone/>
                      </a:pPr>
                      <a:r>
                        <a:rPr lang="en-US" sz="1400" cap="none" spc="0">
                          <a:solidFill>
                            <a:schemeClr val="tx1"/>
                          </a:solidFill>
                        </a:rPr>
                        <a:t>Predicted low-risk patients likely correct</a:t>
                      </a:r>
                    </a:p>
                  </a:txBody>
                  <a:tcPr marL="59818" marR="86537" marT="17091" marB="128180" anchor="ctr">
                    <a:lnL w="12700" cmpd="sng">
                      <a:noFill/>
                      <a:prstDash val="solid"/>
                    </a:lnL>
                    <a:lnR w="12700" cmpd="sng">
                      <a:noFill/>
                      <a:prstDash val="solid"/>
                    </a:lnR>
                    <a:lnT w="12700" cmpd="sng">
                      <a:noFill/>
                      <a:prstDash val="solid"/>
                    </a:lnT>
                    <a:lnB w="9525" cap="flat" cmpd="sng" algn="ctr">
                      <a:noFill/>
                      <a:prstDash val="solid"/>
                    </a:lnB>
                    <a:solidFill>
                      <a:schemeClr val="bg1">
                        <a:lumMod val="95000"/>
                      </a:schemeClr>
                    </a:solidFill>
                  </a:tcPr>
                </a:tc>
                <a:extLst>
                  <a:ext uri="{0D108BD9-81ED-4DB2-BD59-A6C34878D82A}">
                    <a16:rowId xmlns:a16="http://schemas.microsoft.com/office/drawing/2014/main" val="2412656816"/>
                  </a:ext>
                </a:extLst>
              </a:tr>
              <a:tr h="588391">
                <a:tc>
                  <a:txBody>
                    <a:bodyPr/>
                    <a:lstStyle/>
                    <a:p>
                      <a:pPr>
                        <a:buNone/>
                      </a:pPr>
                      <a:r>
                        <a:rPr lang="en-US" sz="1400" cap="none" spc="0">
                          <a:solidFill>
                            <a:schemeClr val="tx1"/>
                          </a:solidFill>
                        </a:rPr>
                        <a:t>F1-score</a:t>
                      </a:r>
                    </a:p>
                  </a:txBody>
                  <a:tcPr marL="59818" marR="86537" marT="17091" marB="128180" anchor="ctr">
                    <a:lnL w="12700" cap="flat" cmpd="sng" algn="ctr">
                      <a:solidFill>
                        <a:schemeClr val="tx1"/>
                      </a:solidFill>
                      <a:prstDash val="solid"/>
                    </a:lnL>
                    <a:lnR w="12700" cmpd="sng">
                      <a:noFill/>
                      <a:prstDash val="solid"/>
                    </a:lnR>
                    <a:lnT w="9525" cap="flat" cmpd="sng" algn="ctr">
                      <a:noFill/>
                      <a:prstDash val="solid"/>
                    </a:lnT>
                    <a:lnB w="12700" cmpd="sng">
                      <a:noFill/>
                      <a:prstDash val="solid"/>
                    </a:lnB>
                    <a:solidFill>
                      <a:schemeClr val="bg1">
                        <a:lumMod val="85000"/>
                      </a:schemeClr>
                    </a:solidFill>
                  </a:tcPr>
                </a:tc>
                <a:tc>
                  <a:txBody>
                    <a:bodyPr/>
                    <a:lstStyle/>
                    <a:p>
                      <a:pPr>
                        <a:buNone/>
                      </a:pPr>
                      <a:r>
                        <a:rPr lang="en-US" sz="1400" cap="none" spc="0">
                          <a:solidFill>
                            <a:schemeClr val="tx1"/>
                          </a:solidFill>
                        </a:rPr>
                        <a:t>2 × (Prec × Rec) / (Prec + Rec)</a:t>
                      </a:r>
                    </a:p>
                  </a:txBody>
                  <a:tcPr marL="59818" marR="86537" marT="17091" marB="128180" anchor="ctr">
                    <a:lnL w="12700" cmpd="sng">
                      <a:noFill/>
                      <a:prstDash val="solid"/>
                    </a:lnL>
                    <a:lnR w="12700" cmpd="sng">
                      <a:noFill/>
                      <a:prstDash val="solid"/>
                    </a:lnR>
                    <a:lnT w="9525" cap="flat" cmpd="sng" algn="ctr">
                      <a:noFill/>
                      <a:prstDash val="solid"/>
                    </a:lnT>
                    <a:lnB w="12700" cmpd="sng">
                      <a:noFill/>
                      <a:prstDash val="solid"/>
                    </a:lnB>
                    <a:solidFill>
                      <a:schemeClr val="bg1">
                        <a:lumMod val="85000"/>
                      </a:schemeClr>
                    </a:solidFill>
                  </a:tcPr>
                </a:tc>
                <a:tc>
                  <a:txBody>
                    <a:bodyPr/>
                    <a:lstStyle/>
                    <a:p>
                      <a:pPr>
                        <a:buNone/>
                      </a:pPr>
                      <a:r>
                        <a:rPr lang="en-US" sz="1400" cap="none" spc="0">
                          <a:solidFill>
                            <a:schemeClr val="tx1"/>
                          </a:solidFill>
                        </a:rPr>
                        <a:t>0.24</a:t>
                      </a:r>
                    </a:p>
                  </a:txBody>
                  <a:tcPr marL="59818" marR="86537" marT="17091" marB="128180" anchor="ctr">
                    <a:lnL w="12700" cmpd="sng">
                      <a:noFill/>
                      <a:prstDash val="solid"/>
                    </a:lnL>
                    <a:lnR w="12700" cmpd="sng">
                      <a:noFill/>
                      <a:prstDash val="solid"/>
                    </a:lnR>
                    <a:lnT w="9525" cap="flat" cmpd="sng" algn="ctr">
                      <a:noFill/>
                      <a:prstDash val="solid"/>
                    </a:lnT>
                    <a:lnB w="12700" cmpd="sng">
                      <a:noFill/>
                      <a:prstDash val="solid"/>
                    </a:lnB>
                    <a:solidFill>
                      <a:schemeClr val="bg1">
                        <a:lumMod val="85000"/>
                      </a:schemeClr>
                    </a:solidFill>
                  </a:tcPr>
                </a:tc>
                <a:tc>
                  <a:txBody>
                    <a:bodyPr/>
                    <a:lstStyle/>
                    <a:p>
                      <a:pPr>
                        <a:buNone/>
                      </a:pPr>
                      <a:r>
                        <a:rPr lang="en-US" sz="1400" cap="none" spc="0">
                          <a:solidFill>
                            <a:schemeClr val="tx1"/>
                          </a:solidFill>
                        </a:rPr>
                        <a:t>Low balance between precision &amp; recall</a:t>
                      </a:r>
                    </a:p>
                  </a:txBody>
                  <a:tcPr marL="59818" marR="86537" marT="17091" marB="128180" anchor="ctr">
                    <a:lnL w="12700" cmpd="sng">
                      <a:noFill/>
                      <a:prstDash val="solid"/>
                    </a:lnL>
                    <a:lnR w="12700" cmpd="sng">
                      <a:noFill/>
                      <a:prstDash val="solid"/>
                    </a:lnR>
                    <a:lnT w="9525" cap="flat" cmpd="sng" algn="ctr">
                      <a:noFill/>
                      <a:prstDash val="solid"/>
                    </a:lnT>
                    <a:lnB w="12700" cmpd="sng">
                      <a:noFill/>
                      <a:prstDash val="solid"/>
                    </a:lnB>
                    <a:solidFill>
                      <a:schemeClr val="bg1">
                        <a:lumMod val="85000"/>
                      </a:schemeClr>
                    </a:solidFill>
                  </a:tcPr>
                </a:tc>
                <a:extLst>
                  <a:ext uri="{0D108BD9-81ED-4DB2-BD59-A6C34878D82A}">
                    <a16:rowId xmlns:a16="http://schemas.microsoft.com/office/drawing/2014/main" val="2002401910"/>
                  </a:ext>
                </a:extLst>
              </a:tr>
              <a:tr h="588391">
                <a:tc>
                  <a:txBody>
                    <a:bodyPr/>
                    <a:lstStyle/>
                    <a:p>
                      <a:pPr>
                        <a:buNone/>
                      </a:pPr>
                      <a:r>
                        <a:rPr lang="en-US" sz="1400" cap="none" spc="0">
                          <a:solidFill>
                            <a:schemeClr val="tx1"/>
                          </a:solidFill>
                        </a:rPr>
                        <a:t>ROC–AUC</a:t>
                      </a:r>
                    </a:p>
                  </a:txBody>
                  <a:tcPr marL="59818" marR="86537" marT="17091" marB="128180" anchor="ctr">
                    <a:lnL w="12700" cap="flat" cmpd="sng" algn="ctr">
                      <a:solidFill>
                        <a:schemeClr val="tx1"/>
                      </a:solid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1400" cap="none" spc="0">
                          <a:solidFill>
                            <a:schemeClr val="tx1"/>
                          </a:solidFill>
                        </a:rPr>
                        <a:t>Area under ROC curve</a:t>
                      </a:r>
                    </a:p>
                  </a:txBody>
                  <a:tcPr marL="59818" marR="86537" marT="17091" marB="12818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1400" cap="none" spc="0">
                          <a:solidFill>
                            <a:schemeClr val="tx1"/>
                          </a:solidFill>
                        </a:rPr>
                        <a:t>0.81</a:t>
                      </a:r>
                    </a:p>
                  </a:txBody>
                  <a:tcPr marL="59818" marR="86537" marT="17091" marB="12818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1400" cap="none" spc="0">
                          <a:solidFill>
                            <a:schemeClr val="tx1"/>
                          </a:solidFill>
                        </a:rPr>
                        <a:t>Good discrimination overall</a:t>
                      </a:r>
                    </a:p>
                  </a:txBody>
                  <a:tcPr marL="59818" marR="86537" marT="17091" marB="12818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2405480744"/>
                  </a:ext>
                </a:extLst>
              </a:tr>
            </a:tbl>
          </a:graphicData>
        </a:graphic>
      </p:graphicFrame>
    </p:spTree>
    <p:extLst>
      <p:ext uri="{BB962C8B-B14F-4D97-AF65-F5344CB8AC3E}">
        <p14:creationId xmlns:p14="http://schemas.microsoft.com/office/powerpoint/2010/main" val="21119426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5" name="Slide Background Fill">
            <a:extLst>
              <a:ext uri="{FF2B5EF4-FFF2-40B4-BE49-F238E27FC236}">
                <a16:creationId xmlns:a16="http://schemas.microsoft.com/office/drawing/2014/main" id="{C3420C89-0B09-4632-A4AF-3971D08BF7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 name="Color Cover">
            <a:extLst>
              <a:ext uri="{FF2B5EF4-FFF2-40B4-BE49-F238E27FC236}">
                <a16:creationId xmlns:a16="http://schemas.microsoft.com/office/drawing/2014/main" id="{4E5CBA61-BF74-40B4-A3A8-366BBA626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59" name="Group 58">
            <a:extLst>
              <a:ext uri="{FF2B5EF4-FFF2-40B4-BE49-F238E27FC236}">
                <a16:creationId xmlns:a16="http://schemas.microsoft.com/office/drawing/2014/main" id="{AC27E70C-5470-4262-B9CE-AE52C51CF4C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2929"/>
            <a:ext cx="12188952" cy="3490956"/>
            <a:chOff x="651279" y="598259"/>
            <a:chExt cx="10889442" cy="5680742"/>
          </a:xfrm>
        </p:grpSpPr>
        <p:sp>
          <p:nvSpPr>
            <p:cNvPr id="60" name="Color">
              <a:extLst>
                <a:ext uri="{FF2B5EF4-FFF2-40B4-BE49-F238E27FC236}">
                  <a16:creationId xmlns:a16="http://schemas.microsoft.com/office/drawing/2014/main" id="{B5C7D35F-738C-47DF-AD6E-859806E460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1" name="Color">
              <a:extLst>
                <a:ext uri="{FF2B5EF4-FFF2-40B4-BE49-F238E27FC236}">
                  <a16:creationId xmlns:a16="http://schemas.microsoft.com/office/drawing/2014/main" id="{740F8C8B-E52F-46CF-89C7-51C6A037CF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63" name="Group 62">
            <a:extLst>
              <a:ext uri="{FF2B5EF4-FFF2-40B4-BE49-F238E27FC236}">
                <a16:creationId xmlns:a16="http://schemas.microsoft.com/office/drawing/2014/main" id="{E27AF472-EAE3-4572-AB69-B92BD10DBC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64" name="Freeform: Shape 63">
              <a:extLst>
                <a:ext uri="{FF2B5EF4-FFF2-40B4-BE49-F238E27FC236}">
                  <a16:creationId xmlns:a16="http://schemas.microsoft.com/office/drawing/2014/main" id="{BF4DB9D2-6215-420C-874C-82EADF8C6C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65" name="Freeform: Shape 64">
              <a:extLst>
                <a:ext uri="{FF2B5EF4-FFF2-40B4-BE49-F238E27FC236}">
                  <a16:creationId xmlns:a16="http://schemas.microsoft.com/office/drawing/2014/main" id="{1F003139-C97C-44FA-B139-32E4DFDCE9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66" name="Freeform: Shape 65">
              <a:extLst>
                <a:ext uri="{FF2B5EF4-FFF2-40B4-BE49-F238E27FC236}">
                  <a16:creationId xmlns:a16="http://schemas.microsoft.com/office/drawing/2014/main" id="{5CE4DD6E-8CEA-45EE-B630-DBC22144D8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67" name="Freeform: Shape 66">
              <a:extLst>
                <a:ext uri="{FF2B5EF4-FFF2-40B4-BE49-F238E27FC236}">
                  <a16:creationId xmlns:a16="http://schemas.microsoft.com/office/drawing/2014/main" id="{A4372F7F-AA3C-470B-AA61-7C35B7722C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68" name="Freeform: Shape 67">
              <a:extLst>
                <a:ext uri="{FF2B5EF4-FFF2-40B4-BE49-F238E27FC236}">
                  <a16:creationId xmlns:a16="http://schemas.microsoft.com/office/drawing/2014/main" id="{34B605BF-D199-43DD-9328-E99F2ADFC6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69" name="Freeform: Shape 68">
              <a:extLst>
                <a:ext uri="{FF2B5EF4-FFF2-40B4-BE49-F238E27FC236}">
                  <a16:creationId xmlns:a16="http://schemas.microsoft.com/office/drawing/2014/main" id="{E5D42A77-7336-4A35-8922-8098A16AA2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70" name="Freeform: Shape 69">
              <a:extLst>
                <a:ext uri="{FF2B5EF4-FFF2-40B4-BE49-F238E27FC236}">
                  <a16:creationId xmlns:a16="http://schemas.microsoft.com/office/drawing/2014/main" id="{7401EE7D-B85D-4C10-AB8C-71884EFB11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a:extLst>
              <a:ext uri="{FF2B5EF4-FFF2-40B4-BE49-F238E27FC236}">
                <a16:creationId xmlns:a16="http://schemas.microsoft.com/office/drawing/2014/main" id="{C9F4995F-D588-B2E0-7A4C-D15B6B2D5810}"/>
              </a:ext>
            </a:extLst>
          </p:cNvPr>
          <p:cNvSpPr>
            <a:spLocks noGrp="1"/>
          </p:cNvSpPr>
          <p:nvPr>
            <p:ph type="title"/>
          </p:nvPr>
        </p:nvSpPr>
        <p:spPr>
          <a:xfrm>
            <a:off x="786384" y="841249"/>
            <a:ext cx="5692953" cy="2587131"/>
          </a:xfrm>
        </p:spPr>
        <p:txBody>
          <a:bodyPr vert="horz" lIns="91440" tIns="45720" rIns="91440" bIns="45720" rtlCol="0" anchor="b">
            <a:normAutofit/>
          </a:bodyPr>
          <a:lstStyle/>
          <a:p>
            <a:r>
              <a:rPr lang="en-US" sz="4800" kern="1200">
                <a:solidFill>
                  <a:schemeClr val="bg1"/>
                </a:solidFill>
                <a:latin typeface="+mj-lt"/>
                <a:ea typeface="+mj-ea"/>
                <a:cs typeface="+mj-cs"/>
              </a:rPr>
              <a:t>Feature Importance in Stroke Risk Prediction (Gradient Boosting)</a:t>
            </a:r>
          </a:p>
        </p:txBody>
      </p:sp>
      <p:sp>
        <p:nvSpPr>
          <p:cNvPr id="6" name="TextBox 5">
            <a:extLst>
              <a:ext uri="{FF2B5EF4-FFF2-40B4-BE49-F238E27FC236}">
                <a16:creationId xmlns:a16="http://schemas.microsoft.com/office/drawing/2014/main" id="{5822A03A-1190-72BE-1577-67DD46F541A4}"/>
              </a:ext>
            </a:extLst>
          </p:cNvPr>
          <p:cNvSpPr txBox="1"/>
          <p:nvPr/>
        </p:nvSpPr>
        <p:spPr>
          <a:xfrm>
            <a:off x="786383" y="3566810"/>
            <a:ext cx="5692953" cy="2651110"/>
          </a:xfrm>
          <a:prstGeom prst="rect">
            <a:avLst/>
          </a:prstGeom>
        </p:spPr>
        <p:txBody>
          <a:bodyPr rot="0" spcFirstLastPara="0" vertOverflow="overflow" horzOverflow="overflow" vert="horz" lIns="91440" tIns="45720" rIns="91440" bIns="45720" numCol="1" spcCol="0" rtlCol="0" fromWordArt="0" anchor="ctr" anchorCtr="0" forceAA="0" compatLnSpc="1">
            <a:prstTxWarp prst="textNoShape">
              <a:avLst/>
            </a:prstTxWarp>
            <a:normAutofit/>
          </a:bodyPr>
          <a:lstStyle/>
          <a:p>
            <a:pPr>
              <a:lnSpc>
                <a:spcPct val="90000"/>
              </a:lnSpc>
              <a:spcAft>
                <a:spcPts val="600"/>
              </a:spcAft>
            </a:pPr>
            <a:r>
              <a:rPr lang="en-US">
                <a:solidFill>
                  <a:schemeClr val="tx2"/>
                </a:solidFill>
              </a:rPr>
              <a:t> Age is the dominant predictor of stroke risk, contributing over 60% to the model’s decisions. Smoking status and work type are also important, while clinical factors like heart disease and hypertension have minimal impact. This suggests that demographic and lifestyle factors play a larger role in stroke prediction in this dataset.</a:t>
            </a:r>
            <a:endParaRPr lang="en-US"/>
          </a:p>
          <a:p>
            <a:pPr indent="-228600">
              <a:lnSpc>
                <a:spcPct val="90000"/>
              </a:lnSpc>
              <a:spcAft>
                <a:spcPts val="600"/>
              </a:spcAft>
              <a:buFont typeface="Arial" panose="020B0604020202020204" pitchFamily="34" charset="0"/>
              <a:buChar char="•"/>
            </a:pPr>
            <a:endParaRPr lang="en-US">
              <a:solidFill>
                <a:schemeClr val="tx2"/>
              </a:solidFill>
            </a:endParaRPr>
          </a:p>
        </p:txBody>
      </p:sp>
      <p:graphicFrame>
        <p:nvGraphicFramePr>
          <p:cNvPr id="5" name="Content Placeholder 4">
            <a:extLst>
              <a:ext uri="{FF2B5EF4-FFF2-40B4-BE49-F238E27FC236}">
                <a16:creationId xmlns:a16="http://schemas.microsoft.com/office/drawing/2014/main" id="{3112AF31-9610-F5BA-F2A3-DFBE5DA62A11}"/>
              </a:ext>
            </a:extLst>
          </p:cNvPr>
          <p:cNvGraphicFramePr>
            <a:graphicFrameLocks noGrp="1"/>
          </p:cNvGraphicFramePr>
          <p:nvPr>
            <p:ph idx="1"/>
            <p:extLst>
              <p:ext uri="{D42A27DB-BD31-4B8C-83A1-F6EECF244321}">
                <p14:modId xmlns:p14="http://schemas.microsoft.com/office/powerpoint/2010/main" val="3572829324"/>
              </p:ext>
            </p:extLst>
          </p:nvPr>
        </p:nvGraphicFramePr>
        <p:xfrm>
          <a:off x="6803647" y="1337676"/>
          <a:ext cx="4730214" cy="4182651"/>
        </p:xfrm>
        <a:graphic>
          <a:graphicData uri="http://schemas.openxmlformats.org/drawingml/2006/table">
            <a:tbl>
              <a:tblPr firstRow="1" bandRow="1">
                <a:solidFill>
                  <a:srgbClr val="404040"/>
                </a:solidFill>
                <a:tableStyleId>{69012ECD-51FC-41F1-AA8D-1B2483CD663E}</a:tableStyleId>
              </a:tblPr>
              <a:tblGrid>
                <a:gridCol w="2505910">
                  <a:extLst>
                    <a:ext uri="{9D8B030D-6E8A-4147-A177-3AD203B41FA5}">
                      <a16:colId xmlns:a16="http://schemas.microsoft.com/office/drawing/2014/main" val="621183810"/>
                    </a:ext>
                  </a:extLst>
                </a:gridCol>
                <a:gridCol w="2224304">
                  <a:extLst>
                    <a:ext uri="{9D8B030D-6E8A-4147-A177-3AD203B41FA5}">
                      <a16:colId xmlns:a16="http://schemas.microsoft.com/office/drawing/2014/main" val="1217641274"/>
                    </a:ext>
                  </a:extLst>
                </a:gridCol>
              </a:tblGrid>
              <a:tr h="439161">
                <a:tc>
                  <a:txBody>
                    <a:bodyPr/>
                    <a:lstStyle/>
                    <a:p>
                      <a:pPr>
                        <a:buNone/>
                      </a:pPr>
                      <a:r>
                        <a:rPr lang="en-US" sz="1700" b="0" cap="none" spc="0">
                          <a:solidFill>
                            <a:schemeClr val="bg1"/>
                          </a:solidFill>
                        </a:rPr>
                        <a:t>Feature</a:t>
                      </a:r>
                    </a:p>
                  </a:txBody>
                  <a:tcPr marL="87620" marR="87620" marT="97217" marB="43810" anchor="ctr">
                    <a:lnL w="12700" cmpd="sng">
                      <a:noFill/>
                    </a:lnL>
                    <a:lnR w="12700" cmpd="sng">
                      <a:noFill/>
                    </a:lnR>
                    <a:lnT w="19050" cap="flat" cmpd="sng" algn="ctr">
                      <a:noFill/>
                      <a:prstDash val="solid"/>
                    </a:lnT>
                    <a:lnB w="38100" cmpd="sng">
                      <a:noFill/>
                    </a:lnB>
                    <a:solidFill>
                      <a:schemeClr val="accent2"/>
                    </a:solidFill>
                  </a:tcPr>
                </a:tc>
                <a:tc>
                  <a:txBody>
                    <a:bodyPr/>
                    <a:lstStyle/>
                    <a:p>
                      <a:pPr>
                        <a:buNone/>
                      </a:pPr>
                      <a:r>
                        <a:rPr lang="en-US" sz="1700" b="0" cap="none" spc="0">
                          <a:solidFill>
                            <a:schemeClr val="bg1"/>
                          </a:solidFill>
                        </a:rPr>
                        <a:t>Importance</a:t>
                      </a:r>
                    </a:p>
                  </a:txBody>
                  <a:tcPr marL="87620" marR="87620" marT="97217" marB="43810" anchor="ctr">
                    <a:lnL w="12700" cmpd="sng">
                      <a:noFill/>
                    </a:lnL>
                    <a:lnR w="12700" cmpd="sng">
                      <a:noFill/>
                    </a:lnR>
                    <a:lnT w="19050" cap="flat" cmpd="sng" algn="ctr">
                      <a:noFill/>
                      <a:prstDash val="solid"/>
                    </a:lnT>
                    <a:lnB w="38100" cmpd="sng">
                      <a:noFill/>
                    </a:lnB>
                    <a:solidFill>
                      <a:schemeClr val="accent2"/>
                    </a:solidFill>
                  </a:tcPr>
                </a:tc>
                <a:extLst>
                  <a:ext uri="{0D108BD9-81ED-4DB2-BD59-A6C34878D82A}">
                    <a16:rowId xmlns:a16="http://schemas.microsoft.com/office/drawing/2014/main" val="1976072933"/>
                  </a:ext>
                </a:extLst>
              </a:tr>
              <a:tr h="374349">
                <a:tc>
                  <a:txBody>
                    <a:bodyPr/>
                    <a:lstStyle/>
                    <a:p>
                      <a:pPr>
                        <a:buNone/>
                      </a:pPr>
                      <a:r>
                        <a:rPr lang="en-US" sz="1300" cap="none" spc="0">
                          <a:solidFill>
                            <a:schemeClr val="bg1"/>
                          </a:solidFill>
                        </a:rPr>
                        <a:t>Age</a:t>
                      </a:r>
                    </a:p>
                  </a:txBody>
                  <a:tcPr marL="87620" marR="87620" marT="97217" marB="43810" anchor="ctr">
                    <a:lnL w="12700" cmpd="sng">
                      <a:noFill/>
                      <a:prstDash val="solid"/>
                    </a:lnL>
                    <a:lnR w="12700" cmpd="sng">
                      <a:noFill/>
                      <a:prstDash val="solid"/>
                    </a:lnR>
                    <a:lnT w="38100" cmpd="sng">
                      <a:noFill/>
                    </a:lnT>
                    <a:lnB w="12700" cap="flat" cmpd="sng" algn="ctr">
                      <a:solidFill>
                        <a:schemeClr val="bg1">
                          <a:lumMod val="75000"/>
                        </a:schemeClr>
                      </a:solidFill>
                      <a:prstDash val="solid"/>
                    </a:lnB>
                    <a:solidFill>
                      <a:srgbClr val="404040"/>
                    </a:solidFill>
                  </a:tcPr>
                </a:tc>
                <a:tc>
                  <a:txBody>
                    <a:bodyPr/>
                    <a:lstStyle/>
                    <a:p>
                      <a:pPr>
                        <a:buNone/>
                      </a:pPr>
                      <a:r>
                        <a:rPr lang="en-US" sz="1300" cap="none" spc="0">
                          <a:solidFill>
                            <a:schemeClr val="bg1"/>
                          </a:solidFill>
                        </a:rPr>
                        <a:t>0.63</a:t>
                      </a:r>
                    </a:p>
                  </a:txBody>
                  <a:tcPr marL="87620" marR="87620" marT="97217" marB="43810" anchor="ctr">
                    <a:lnL w="12700" cmpd="sng">
                      <a:noFill/>
                      <a:prstDash val="solid"/>
                    </a:lnL>
                    <a:lnR w="12700" cmpd="sng">
                      <a:noFill/>
                      <a:prstDash val="solid"/>
                    </a:lnR>
                    <a:lnT w="38100" cmpd="sng">
                      <a:noFill/>
                    </a:lnT>
                    <a:lnB w="12700" cap="flat" cmpd="sng" algn="ctr">
                      <a:solidFill>
                        <a:schemeClr val="bg1">
                          <a:lumMod val="75000"/>
                        </a:schemeClr>
                      </a:solidFill>
                      <a:prstDash val="solid"/>
                    </a:lnB>
                    <a:solidFill>
                      <a:srgbClr val="404040"/>
                    </a:solidFill>
                  </a:tcPr>
                </a:tc>
                <a:extLst>
                  <a:ext uri="{0D108BD9-81ED-4DB2-BD59-A6C34878D82A}">
                    <a16:rowId xmlns:a16="http://schemas.microsoft.com/office/drawing/2014/main" val="3167000722"/>
                  </a:ext>
                </a:extLst>
              </a:tr>
              <a:tr h="374349">
                <a:tc>
                  <a:txBody>
                    <a:bodyPr/>
                    <a:lstStyle/>
                    <a:p>
                      <a:pPr>
                        <a:buNone/>
                      </a:pPr>
                      <a:r>
                        <a:rPr lang="en-US" sz="1300" cap="none" spc="0">
                          <a:solidFill>
                            <a:schemeClr val="bg1"/>
                          </a:solidFill>
                        </a:rPr>
                        <a:t>Smoking Status</a:t>
                      </a:r>
                    </a:p>
                  </a:txBody>
                  <a:tcPr marL="87620" marR="87620" marT="97217" marB="43810"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tc>
                  <a:txBody>
                    <a:bodyPr/>
                    <a:lstStyle/>
                    <a:p>
                      <a:pPr>
                        <a:buNone/>
                      </a:pPr>
                      <a:r>
                        <a:rPr lang="en-US" sz="1300" cap="none" spc="0">
                          <a:solidFill>
                            <a:schemeClr val="bg1"/>
                          </a:solidFill>
                        </a:rPr>
                        <a:t>0.14</a:t>
                      </a:r>
                    </a:p>
                  </a:txBody>
                  <a:tcPr marL="87620" marR="87620" marT="97217" marB="43810"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extLst>
                  <a:ext uri="{0D108BD9-81ED-4DB2-BD59-A6C34878D82A}">
                    <a16:rowId xmlns:a16="http://schemas.microsoft.com/office/drawing/2014/main" val="1153467899"/>
                  </a:ext>
                </a:extLst>
              </a:tr>
              <a:tr h="374349">
                <a:tc>
                  <a:txBody>
                    <a:bodyPr/>
                    <a:lstStyle/>
                    <a:p>
                      <a:pPr>
                        <a:buNone/>
                      </a:pPr>
                      <a:r>
                        <a:rPr lang="en-US" sz="1300" cap="none" spc="0">
                          <a:solidFill>
                            <a:schemeClr val="bg1"/>
                          </a:solidFill>
                        </a:rPr>
                        <a:t>Work Type</a:t>
                      </a:r>
                    </a:p>
                  </a:txBody>
                  <a:tcPr marL="87620" marR="87620" marT="97217" marB="43810"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404040"/>
                    </a:solidFill>
                  </a:tcPr>
                </a:tc>
                <a:tc>
                  <a:txBody>
                    <a:bodyPr/>
                    <a:lstStyle/>
                    <a:p>
                      <a:pPr>
                        <a:buNone/>
                      </a:pPr>
                      <a:r>
                        <a:rPr lang="en-US" sz="1300" cap="none" spc="0">
                          <a:solidFill>
                            <a:schemeClr val="bg1"/>
                          </a:solidFill>
                        </a:rPr>
                        <a:t>0.11</a:t>
                      </a:r>
                    </a:p>
                  </a:txBody>
                  <a:tcPr marL="87620" marR="87620" marT="97217" marB="43810"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404040"/>
                    </a:solidFill>
                  </a:tcPr>
                </a:tc>
                <a:extLst>
                  <a:ext uri="{0D108BD9-81ED-4DB2-BD59-A6C34878D82A}">
                    <a16:rowId xmlns:a16="http://schemas.microsoft.com/office/drawing/2014/main" val="1171028619"/>
                  </a:ext>
                </a:extLst>
              </a:tr>
              <a:tr h="374349">
                <a:tc>
                  <a:txBody>
                    <a:bodyPr/>
                    <a:lstStyle/>
                    <a:p>
                      <a:pPr>
                        <a:buNone/>
                      </a:pPr>
                      <a:r>
                        <a:rPr lang="en-US" sz="1300" cap="none" spc="0">
                          <a:solidFill>
                            <a:schemeClr val="bg1"/>
                          </a:solidFill>
                        </a:rPr>
                        <a:t>Avg Glucose Level</a:t>
                      </a:r>
                    </a:p>
                  </a:txBody>
                  <a:tcPr marL="87620" marR="87620" marT="97217" marB="43810"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tc>
                  <a:txBody>
                    <a:bodyPr/>
                    <a:lstStyle/>
                    <a:p>
                      <a:pPr>
                        <a:buNone/>
                      </a:pPr>
                      <a:r>
                        <a:rPr lang="en-US" sz="1300" cap="none" spc="0">
                          <a:solidFill>
                            <a:schemeClr val="bg1"/>
                          </a:solidFill>
                        </a:rPr>
                        <a:t>0.03</a:t>
                      </a:r>
                    </a:p>
                  </a:txBody>
                  <a:tcPr marL="87620" marR="87620" marT="97217" marB="43810"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extLst>
                  <a:ext uri="{0D108BD9-81ED-4DB2-BD59-A6C34878D82A}">
                    <a16:rowId xmlns:a16="http://schemas.microsoft.com/office/drawing/2014/main" val="419582950"/>
                  </a:ext>
                </a:extLst>
              </a:tr>
              <a:tr h="374349">
                <a:tc>
                  <a:txBody>
                    <a:bodyPr/>
                    <a:lstStyle/>
                    <a:p>
                      <a:pPr>
                        <a:buNone/>
                      </a:pPr>
                      <a:r>
                        <a:rPr lang="en-US" sz="1300" cap="none" spc="0">
                          <a:solidFill>
                            <a:schemeClr val="bg1"/>
                          </a:solidFill>
                        </a:rPr>
                        <a:t>BMI</a:t>
                      </a:r>
                    </a:p>
                  </a:txBody>
                  <a:tcPr marL="87620" marR="87620" marT="97217" marB="43810"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404040"/>
                    </a:solidFill>
                  </a:tcPr>
                </a:tc>
                <a:tc>
                  <a:txBody>
                    <a:bodyPr/>
                    <a:lstStyle/>
                    <a:p>
                      <a:pPr>
                        <a:buNone/>
                      </a:pPr>
                      <a:r>
                        <a:rPr lang="en-US" sz="1300" cap="none" spc="0">
                          <a:solidFill>
                            <a:schemeClr val="bg1"/>
                          </a:solidFill>
                        </a:rPr>
                        <a:t>0.02</a:t>
                      </a:r>
                    </a:p>
                  </a:txBody>
                  <a:tcPr marL="87620" marR="87620" marT="97217" marB="43810"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404040"/>
                    </a:solidFill>
                  </a:tcPr>
                </a:tc>
                <a:extLst>
                  <a:ext uri="{0D108BD9-81ED-4DB2-BD59-A6C34878D82A}">
                    <a16:rowId xmlns:a16="http://schemas.microsoft.com/office/drawing/2014/main" val="3010289349"/>
                  </a:ext>
                </a:extLst>
              </a:tr>
              <a:tr h="374349">
                <a:tc>
                  <a:txBody>
                    <a:bodyPr/>
                    <a:lstStyle/>
                    <a:p>
                      <a:pPr>
                        <a:buNone/>
                      </a:pPr>
                      <a:r>
                        <a:rPr lang="en-US" sz="1300" cap="none" spc="0">
                          <a:solidFill>
                            <a:schemeClr val="bg1"/>
                          </a:solidFill>
                        </a:rPr>
                        <a:t>Ever Married</a:t>
                      </a:r>
                    </a:p>
                  </a:txBody>
                  <a:tcPr marL="87620" marR="87620" marT="97217" marB="43810"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tc>
                  <a:txBody>
                    <a:bodyPr/>
                    <a:lstStyle/>
                    <a:p>
                      <a:pPr>
                        <a:buNone/>
                      </a:pPr>
                      <a:r>
                        <a:rPr lang="en-US" sz="1300" cap="none" spc="0">
                          <a:solidFill>
                            <a:schemeClr val="bg1"/>
                          </a:solidFill>
                        </a:rPr>
                        <a:t>0.01</a:t>
                      </a:r>
                    </a:p>
                  </a:txBody>
                  <a:tcPr marL="87620" marR="87620" marT="97217" marB="43810"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extLst>
                  <a:ext uri="{0D108BD9-81ED-4DB2-BD59-A6C34878D82A}">
                    <a16:rowId xmlns:a16="http://schemas.microsoft.com/office/drawing/2014/main" val="4244596298"/>
                  </a:ext>
                </a:extLst>
              </a:tr>
              <a:tr h="374349">
                <a:tc>
                  <a:txBody>
                    <a:bodyPr/>
                    <a:lstStyle/>
                    <a:p>
                      <a:pPr>
                        <a:buNone/>
                      </a:pPr>
                      <a:r>
                        <a:rPr lang="en-US" sz="1300" cap="none" spc="0">
                          <a:solidFill>
                            <a:schemeClr val="bg1"/>
                          </a:solidFill>
                        </a:rPr>
                        <a:t>Gender</a:t>
                      </a:r>
                    </a:p>
                  </a:txBody>
                  <a:tcPr marL="87620" marR="87620" marT="97217" marB="43810"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404040"/>
                    </a:solidFill>
                  </a:tcPr>
                </a:tc>
                <a:tc>
                  <a:txBody>
                    <a:bodyPr/>
                    <a:lstStyle/>
                    <a:p>
                      <a:pPr>
                        <a:buNone/>
                      </a:pPr>
                      <a:r>
                        <a:rPr lang="en-US" sz="1300" cap="none" spc="0">
                          <a:solidFill>
                            <a:schemeClr val="bg1"/>
                          </a:solidFill>
                        </a:rPr>
                        <a:t>0.01</a:t>
                      </a:r>
                    </a:p>
                  </a:txBody>
                  <a:tcPr marL="87620" marR="87620" marT="97217" marB="43810"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404040"/>
                    </a:solidFill>
                  </a:tcPr>
                </a:tc>
                <a:extLst>
                  <a:ext uri="{0D108BD9-81ED-4DB2-BD59-A6C34878D82A}">
                    <a16:rowId xmlns:a16="http://schemas.microsoft.com/office/drawing/2014/main" val="3951883148"/>
                  </a:ext>
                </a:extLst>
              </a:tr>
              <a:tr h="374349">
                <a:tc>
                  <a:txBody>
                    <a:bodyPr/>
                    <a:lstStyle/>
                    <a:p>
                      <a:pPr>
                        <a:buNone/>
                      </a:pPr>
                      <a:r>
                        <a:rPr lang="en-US" sz="1300" cap="none" spc="0">
                          <a:solidFill>
                            <a:schemeClr val="bg1"/>
                          </a:solidFill>
                        </a:rPr>
                        <a:t>Residence Type</a:t>
                      </a:r>
                    </a:p>
                  </a:txBody>
                  <a:tcPr marL="87620" marR="87620" marT="97217" marB="43810"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tc>
                  <a:txBody>
                    <a:bodyPr/>
                    <a:lstStyle/>
                    <a:p>
                      <a:pPr>
                        <a:buNone/>
                      </a:pPr>
                      <a:r>
                        <a:rPr lang="en-US" sz="1300" cap="none" spc="0">
                          <a:solidFill>
                            <a:schemeClr val="bg1"/>
                          </a:solidFill>
                        </a:rPr>
                        <a:t>0.005</a:t>
                      </a:r>
                    </a:p>
                  </a:txBody>
                  <a:tcPr marL="87620" marR="87620" marT="97217" marB="43810"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extLst>
                  <a:ext uri="{0D108BD9-81ED-4DB2-BD59-A6C34878D82A}">
                    <a16:rowId xmlns:a16="http://schemas.microsoft.com/office/drawing/2014/main" val="963510401"/>
                  </a:ext>
                </a:extLst>
              </a:tr>
              <a:tr h="374349">
                <a:tc>
                  <a:txBody>
                    <a:bodyPr/>
                    <a:lstStyle/>
                    <a:p>
                      <a:pPr>
                        <a:buNone/>
                      </a:pPr>
                      <a:r>
                        <a:rPr lang="en-US" sz="1300" cap="none" spc="0">
                          <a:solidFill>
                            <a:schemeClr val="bg1"/>
                          </a:solidFill>
                        </a:rPr>
                        <a:t>Heart Disease</a:t>
                      </a:r>
                    </a:p>
                  </a:txBody>
                  <a:tcPr marL="87620" marR="87620" marT="97217" marB="43810"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404040"/>
                    </a:solidFill>
                  </a:tcPr>
                </a:tc>
                <a:tc>
                  <a:txBody>
                    <a:bodyPr/>
                    <a:lstStyle/>
                    <a:p>
                      <a:pPr>
                        <a:buNone/>
                      </a:pPr>
                      <a:r>
                        <a:rPr lang="en-US" sz="1300" cap="none" spc="0">
                          <a:solidFill>
                            <a:schemeClr val="bg1"/>
                          </a:solidFill>
                        </a:rPr>
                        <a:t>0.003</a:t>
                      </a:r>
                    </a:p>
                  </a:txBody>
                  <a:tcPr marL="87620" marR="87620" marT="97217" marB="43810"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404040"/>
                    </a:solidFill>
                  </a:tcPr>
                </a:tc>
                <a:extLst>
                  <a:ext uri="{0D108BD9-81ED-4DB2-BD59-A6C34878D82A}">
                    <a16:rowId xmlns:a16="http://schemas.microsoft.com/office/drawing/2014/main" val="342050979"/>
                  </a:ext>
                </a:extLst>
              </a:tr>
              <a:tr h="374349">
                <a:tc>
                  <a:txBody>
                    <a:bodyPr/>
                    <a:lstStyle/>
                    <a:p>
                      <a:pPr>
                        <a:buNone/>
                      </a:pPr>
                      <a:r>
                        <a:rPr lang="en-US" sz="1300" cap="none" spc="0">
                          <a:solidFill>
                            <a:schemeClr val="bg1"/>
                          </a:solidFill>
                        </a:rPr>
                        <a:t>Hypertension</a:t>
                      </a:r>
                    </a:p>
                  </a:txBody>
                  <a:tcPr marL="87620" marR="87620" marT="97217" marB="43810"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tc>
                  <a:txBody>
                    <a:bodyPr/>
                    <a:lstStyle/>
                    <a:p>
                      <a:pPr>
                        <a:buNone/>
                      </a:pPr>
                      <a:r>
                        <a:rPr lang="en-US" sz="1300" cap="none" spc="0">
                          <a:solidFill>
                            <a:schemeClr val="bg1"/>
                          </a:solidFill>
                        </a:rPr>
                        <a:t>0.002</a:t>
                      </a:r>
                    </a:p>
                  </a:txBody>
                  <a:tcPr marL="87620" marR="87620" marT="97217" marB="43810"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extLst>
                  <a:ext uri="{0D108BD9-81ED-4DB2-BD59-A6C34878D82A}">
                    <a16:rowId xmlns:a16="http://schemas.microsoft.com/office/drawing/2014/main" val="505100625"/>
                  </a:ext>
                </a:extLst>
              </a:tr>
            </a:tbl>
          </a:graphicData>
        </a:graphic>
      </p:graphicFrame>
    </p:spTree>
    <p:extLst>
      <p:ext uri="{BB962C8B-B14F-4D97-AF65-F5344CB8AC3E}">
        <p14:creationId xmlns:p14="http://schemas.microsoft.com/office/powerpoint/2010/main" val="7506671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F7AD105-7EF6-BD12-7CD2-6B2383AB6EAE}"/>
              </a:ext>
            </a:extLst>
          </p:cNvPr>
          <p:cNvSpPr>
            <a:spLocks noGrp="1"/>
          </p:cNvSpPr>
          <p:nvPr>
            <p:ph type="title"/>
          </p:nvPr>
        </p:nvSpPr>
        <p:spPr>
          <a:xfrm>
            <a:off x="586478" y="1683756"/>
            <a:ext cx="3115265" cy="2396359"/>
          </a:xfrm>
        </p:spPr>
        <p:txBody>
          <a:bodyPr anchor="b">
            <a:normAutofit/>
          </a:bodyPr>
          <a:lstStyle/>
          <a:p>
            <a:pPr algn="r"/>
            <a:r>
              <a:rPr lang="en-US" sz="4000">
                <a:solidFill>
                  <a:srgbClr val="FFFFFF"/>
                </a:solidFill>
                <a:ea typeface="+mj-lt"/>
                <a:cs typeface="+mj-lt"/>
              </a:rPr>
              <a:t>Early Intervention Strategies</a:t>
            </a:r>
            <a:endParaRPr lang="en-US" sz="4000">
              <a:solidFill>
                <a:srgbClr val="FFFFFF"/>
              </a:solidFill>
            </a:endParaRPr>
          </a:p>
        </p:txBody>
      </p:sp>
      <p:graphicFrame>
        <p:nvGraphicFramePr>
          <p:cNvPr id="5" name="Content Placeholder 2">
            <a:extLst>
              <a:ext uri="{FF2B5EF4-FFF2-40B4-BE49-F238E27FC236}">
                <a16:creationId xmlns:a16="http://schemas.microsoft.com/office/drawing/2014/main" id="{4F042C39-7E1D-0961-0CDA-7CF3A04E3FBB}"/>
              </a:ext>
            </a:extLst>
          </p:cNvPr>
          <p:cNvGraphicFramePr>
            <a:graphicFrameLocks noGrp="1"/>
          </p:cNvGraphicFramePr>
          <p:nvPr>
            <p:ph idx="1"/>
            <p:extLst>
              <p:ext uri="{D42A27DB-BD31-4B8C-83A1-F6EECF244321}">
                <p14:modId xmlns:p14="http://schemas.microsoft.com/office/powerpoint/2010/main" val="3481210512"/>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124194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9A02AB2-5D82-9B88-988A-76D2C3E77449}"/>
              </a:ext>
            </a:extLst>
          </p:cNvPr>
          <p:cNvSpPr>
            <a:spLocks noGrp="1"/>
          </p:cNvSpPr>
          <p:nvPr>
            <p:ph type="title"/>
          </p:nvPr>
        </p:nvSpPr>
        <p:spPr>
          <a:xfrm>
            <a:off x="1371597" y="348865"/>
            <a:ext cx="10044023" cy="877729"/>
          </a:xfrm>
        </p:spPr>
        <p:txBody>
          <a:bodyPr anchor="ctr">
            <a:normAutofit/>
          </a:bodyPr>
          <a:lstStyle/>
          <a:p>
            <a:r>
              <a:rPr lang="en-US" sz="3700">
                <a:solidFill>
                  <a:srgbClr val="FFFFFF"/>
                </a:solidFill>
                <a:ea typeface="+mj-lt"/>
                <a:cs typeface="+mj-lt"/>
              </a:rPr>
              <a:t>Ethical Considerations in Medical Risk Prediction</a:t>
            </a:r>
          </a:p>
        </p:txBody>
      </p:sp>
      <p:graphicFrame>
        <p:nvGraphicFramePr>
          <p:cNvPr id="5" name="Content Placeholder 2">
            <a:extLst>
              <a:ext uri="{FF2B5EF4-FFF2-40B4-BE49-F238E27FC236}">
                <a16:creationId xmlns:a16="http://schemas.microsoft.com/office/drawing/2014/main" id="{890E633D-F851-DA29-3A63-3A2FF4A3AA96}"/>
              </a:ext>
            </a:extLst>
          </p:cNvPr>
          <p:cNvGraphicFramePr>
            <a:graphicFrameLocks noGrp="1"/>
          </p:cNvGraphicFramePr>
          <p:nvPr>
            <p:ph idx="1"/>
            <p:extLst>
              <p:ext uri="{D42A27DB-BD31-4B8C-83A1-F6EECF244321}">
                <p14:modId xmlns:p14="http://schemas.microsoft.com/office/powerpoint/2010/main" val="257835563"/>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777514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2" name="Rectangle 1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A9A7F6A-9BC5-8CF2-E7EA-4FAA205E6E1E}"/>
              </a:ext>
            </a:extLst>
          </p:cNvPr>
          <p:cNvSpPr>
            <a:spLocks noGrp="1"/>
          </p:cNvSpPr>
          <p:nvPr>
            <p:ph type="title"/>
          </p:nvPr>
        </p:nvSpPr>
        <p:spPr>
          <a:xfrm>
            <a:off x="1043631" y="514931"/>
            <a:ext cx="10173010" cy="706448"/>
          </a:xfrm>
        </p:spPr>
        <p:txBody>
          <a:bodyPr anchor="ctr">
            <a:normAutofit fontScale="90000"/>
          </a:bodyPr>
          <a:lstStyle/>
          <a:p>
            <a:r>
              <a:rPr lang="en-US" sz="4800">
                <a:ea typeface="+mj-lt"/>
                <a:cs typeface="+mj-lt"/>
              </a:rPr>
              <a:t>Conclusion</a:t>
            </a:r>
            <a:endParaRPr lang="en-US" sz="4800"/>
          </a:p>
        </p:txBody>
      </p:sp>
      <p:cxnSp>
        <p:nvCxnSpPr>
          <p:cNvPr id="18" name="Straight Connector 17">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BE30E431-87B5-611D-618D-E275AAF72649}"/>
              </a:ext>
            </a:extLst>
          </p:cNvPr>
          <p:cNvGraphicFramePr>
            <a:graphicFrameLocks noGrp="1"/>
          </p:cNvGraphicFramePr>
          <p:nvPr>
            <p:ph idx="1"/>
            <p:extLst>
              <p:ext uri="{D42A27DB-BD31-4B8C-83A1-F6EECF244321}">
                <p14:modId xmlns:p14="http://schemas.microsoft.com/office/powerpoint/2010/main" val="3403437336"/>
              </p:ext>
            </p:extLst>
          </p:nvPr>
        </p:nvGraphicFramePr>
        <p:xfrm>
          <a:off x="843151" y="1112521"/>
          <a:ext cx="10378440" cy="432832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8160958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10</Slides>
  <Notes>0</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office theme</vt:lpstr>
      <vt:lpstr>PowerPoint Presentation</vt:lpstr>
      <vt:lpstr>Introduction</vt:lpstr>
      <vt:lpstr>What is Stroke</vt:lpstr>
      <vt:lpstr>Types of Stroke</vt:lpstr>
      <vt:lpstr>Model Interpretation (Stroke Prediction)</vt:lpstr>
      <vt:lpstr>Clinical Evaluation of Stroke Risk Prediction Model</vt:lpstr>
      <vt:lpstr>Feature Importance in Stroke Risk Prediction (Gradient Boosting)</vt:lpstr>
      <vt:lpstr>Early Intervention Strategies</vt:lpstr>
      <vt:lpstr>Ethical Considerations in Medical Risk Prediction</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778</cp:revision>
  <dcterms:created xsi:type="dcterms:W3CDTF">2026-03-11T14:13:05Z</dcterms:created>
  <dcterms:modified xsi:type="dcterms:W3CDTF">2026-03-13T12:49:46Z</dcterms:modified>
</cp:coreProperties>
</file>